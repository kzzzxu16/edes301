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1" r:id="rId2"/>
    <p:sldId id="367" r:id="rId3"/>
    <p:sldId id="373" r:id="rId4"/>
    <p:sldId id="372" r:id="rId5"/>
    <p:sldId id="374" r:id="rId6"/>
    <p:sldId id="375" r:id="rId7"/>
    <p:sldId id="369" r:id="rId8"/>
    <p:sldId id="370" r:id="rId9"/>
    <p:sldId id="368" r:id="rId10"/>
    <p:sldId id="3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6" autoAdjust="0"/>
    <p:restoredTop sz="94706" autoAdjust="0"/>
  </p:normalViewPr>
  <p:slideViewPr>
    <p:cSldViewPr>
      <p:cViewPr>
        <p:scale>
          <a:sx n="100" d="100"/>
          <a:sy n="100" d="100"/>
        </p:scale>
        <p:origin x="876" y="24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10/1/2026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10/1/2026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10/1/2026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10/1/2026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10/1/2026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10/1/2026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ocs.waveshare.com/ESP32-Arduino-Tutorials/13-3-Presence-Ligh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afruit.com/" TargetMode="External"/><Relationship Id="rId2" Type="http://schemas.openxmlformats.org/officeDocument/2006/relationships/hyperlink" Target="https://www.amazon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ouser.com/" TargetMode="External"/><Relationship Id="rId5" Type="http://schemas.openxmlformats.org/officeDocument/2006/relationships/hyperlink" Target="https://www.digikey.com/" TargetMode="External"/><Relationship Id="rId4" Type="http://schemas.openxmlformats.org/officeDocument/2006/relationships/hyperlink" Target="https://www.sparkfu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1604" y="1737360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Responsive Path Lighting Proposal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/>
          <a:lstStyle/>
          <a:p>
            <a:r>
              <a:rPr lang="en-US" dirty="0"/>
              <a:t>2026/09/30</a:t>
            </a:r>
          </a:p>
          <a:p>
            <a:r>
              <a:rPr lang="en-US" dirty="0"/>
              <a:t>Kathy Xu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an architecture student, I am interested in how lighting can guide movement and shape spatial experience. Instead of treating circulation lighting as a static condition, this project explores how light can respond directly to a person moving through a space, illuminating only the areas currently being used.</a:t>
            </a:r>
          </a:p>
          <a:p>
            <a:r>
              <a:rPr lang="en-US" dirty="0"/>
              <a:t>What is being proposed?</a:t>
            </a:r>
          </a:p>
          <a:p>
            <a:pPr lvl="1"/>
            <a:r>
              <a:rPr lang="en-US" dirty="0"/>
              <a:t>A lighting system that responds to a person moving through a circulation space.</a:t>
            </a:r>
          </a:p>
          <a:p>
            <a:pPr lvl="1"/>
            <a:r>
              <a:rPr lang="en-US" dirty="0"/>
              <a:t>Four sensing zones detect the user’s position along a path.</a:t>
            </a:r>
          </a:p>
          <a:p>
            <a:pPr lvl="1"/>
            <a:r>
              <a:rPr lang="en-US" dirty="0"/>
              <a:t>Each sensor controls a corresponding lighting zone.</a:t>
            </a:r>
          </a:p>
          <a:p>
            <a:pPr lvl="1"/>
            <a:r>
              <a:rPr lang="en-US" dirty="0"/>
              <a:t>Lights activate sequentially as the user moves through the space.</a:t>
            </a:r>
          </a:p>
          <a:p>
            <a:pPr lvl="1"/>
            <a:r>
              <a:rPr lang="en-US" dirty="0"/>
              <a:t>Lighting can fade/dim after the user leaves a zone.</a:t>
            </a:r>
          </a:p>
        </p:txBody>
      </p:sp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A86D-EE3B-D3A6-60AE-458549DC1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DB1A-704C-6849-271B-0AC37BD29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pic>
        <p:nvPicPr>
          <p:cNvPr id="6" name="Picture 5" descr="Foco empotrable marcador de paso con luz LED y sensor de movimiento PIR potencia regulable 4W 2W para escaleras pasillo Redondo Blanco 230V | Leroy Merlin">
            <a:extLst>
              <a:ext uri="{FF2B5EF4-FFF2-40B4-BE49-F238E27FC236}">
                <a16:creationId xmlns:a16="http://schemas.microsoft.com/office/drawing/2014/main" id="{C0B91B5F-0A06-902A-BB24-00E39EB54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982" y="455682"/>
            <a:ext cx="5291418" cy="5291418"/>
          </a:xfrm>
          <a:prstGeom prst="rect">
            <a:avLst/>
          </a:prstGeom>
        </p:spPr>
      </p:pic>
      <p:pic>
        <p:nvPicPr>
          <p:cNvPr id="7" name="Picture 6" descr="Rice's new 'forward-thinking' art installation highlights climate change  through voices of activists, scholars and scientists | Rice News | News and  Media Relations | Rice University">
            <a:extLst>
              <a:ext uri="{FF2B5EF4-FFF2-40B4-BE49-F238E27FC236}">
                <a16:creationId xmlns:a16="http://schemas.microsoft.com/office/drawing/2014/main" id="{0AA79A8F-FA70-5130-4E0E-C6B89A702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47" y="2171700"/>
            <a:ext cx="5277972" cy="357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6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D68D6-C47E-1EE1-BC7C-0B5340B55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A01C-23C7-3A9E-7FF5-3C3BD035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798E4-2A6C-C571-F49C-D6E6E7FA2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improvements / additions over existing project</a:t>
            </a:r>
          </a:p>
          <a:p>
            <a:pPr lvl="1"/>
            <a:r>
              <a:rPr lang="en-US" dirty="0"/>
              <a:t>Link: </a:t>
            </a:r>
            <a:r>
              <a:rPr lang="en-US" dirty="0">
                <a:hlinkClick r:id="rId2"/>
              </a:rPr>
              <a:t>https://docs.waveshare.com/ESP32-Arduino-Tutorials/13-3-Presence-Light</a:t>
            </a:r>
            <a:endParaRPr lang="en-US" dirty="0"/>
          </a:p>
          <a:p>
            <a:pPr lvl="1"/>
            <a:r>
              <a:rPr lang="en-US" dirty="0"/>
              <a:t>expands from 1 motion sensor and 1 lighting zone to 4 of each</a:t>
            </a:r>
          </a:p>
          <a:p>
            <a:pPr lvl="1"/>
            <a:r>
              <a:rPr lang="en-US" dirty="0"/>
              <a:t>Adds sequential lighting, so different zones activate as a person progresses along the path.</a:t>
            </a:r>
          </a:p>
          <a:p>
            <a:pPr lvl="1"/>
            <a:r>
              <a:rPr lang="en-US" dirty="0"/>
              <a:t>Adds graduated brightness / fading, allowing nearby zones to remain dim while the occupied zone is brightest.</a:t>
            </a:r>
          </a:p>
          <a:p>
            <a:pPr lvl="1"/>
            <a:r>
              <a:rPr lang="en-US" dirty="0"/>
              <a:t>Adds movement through space as the design concept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2A03C-01D0-AFF5-B7BB-7F50E8903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0" y="3307525"/>
            <a:ext cx="2324100" cy="272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4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4E315-070F-5DCF-4DF9-CBE20307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C5F6A-AC17-FAF4-F446-4EC1E6C6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2BFC74-CEC6-F18E-465B-3ED87BA55DFA}"/>
              </a:ext>
            </a:extLst>
          </p:cNvPr>
          <p:cNvSpPr txBox="1"/>
          <p:nvPr/>
        </p:nvSpPr>
        <p:spPr>
          <a:xfrm>
            <a:off x="694765" y="1790700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HC-SR501 PIR</a:t>
            </a:r>
          </a:p>
          <a:p>
            <a:pPr algn="ctr"/>
            <a:r>
              <a:rPr lang="en-CA" sz="1100" dirty="0"/>
              <a:t>Sensor 1</a:t>
            </a:r>
          </a:p>
          <a:p>
            <a:pPr algn="ctr"/>
            <a:r>
              <a:rPr lang="en-CA" sz="1100" dirty="0"/>
              <a:t>Zone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1FAA4-95DE-5BCE-5E40-7B15F3CA2A20}"/>
              </a:ext>
            </a:extLst>
          </p:cNvPr>
          <p:cNvSpPr txBox="1"/>
          <p:nvPr/>
        </p:nvSpPr>
        <p:spPr>
          <a:xfrm>
            <a:off x="685800" y="2667000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HC-SR501 PIR</a:t>
            </a:r>
          </a:p>
          <a:p>
            <a:pPr algn="ctr"/>
            <a:r>
              <a:rPr lang="en-CA" sz="1100" dirty="0"/>
              <a:t>Sensor 2</a:t>
            </a:r>
          </a:p>
          <a:p>
            <a:pPr algn="ctr"/>
            <a:r>
              <a:rPr lang="en-CA" sz="1100" dirty="0"/>
              <a:t>Zone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64BD4-F0B6-C8C9-21C9-FF0B2163406C}"/>
              </a:ext>
            </a:extLst>
          </p:cNvPr>
          <p:cNvSpPr txBox="1"/>
          <p:nvPr/>
        </p:nvSpPr>
        <p:spPr>
          <a:xfrm>
            <a:off x="685800" y="3543300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HC-SR501 PIR</a:t>
            </a:r>
          </a:p>
          <a:p>
            <a:pPr algn="ctr"/>
            <a:r>
              <a:rPr lang="en-CA" sz="1100" dirty="0"/>
              <a:t>Sensor 3</a:t>
            </a:r>
          </a:p>
          <a:p>
            <a:pPr algn="ctr"/>
            <a:r>
              <a:rPr lang="en-CA" sz="1100" dirty="0"/>
              <a:t>Zone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087FA4-5268-7956-0E9B-6DCB4FC3E26A}"/>
              </a:ext>
            </a:extLst>
          </p:cNvPr>
          <p:cNvSpPr txBox="1"/>
          <p:nvPr/>
        </p:nvSpPr>
        <p:spPr>
          <a:xfrm>
            <a:off x="683559" y="4419600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HC-SR501 PIR</a:t>
            </a:r>
          </a:p>
          <a:p>
            <a:pPr algn="ctr"/>
            <a:r>
              <a:rPr lang="en-CA" sz="1100" dirty="0"/>
              <a:t>Sensor 4</a:t>
            </a:r>
          </a:p>
          <a:p>
            <a:pPr algn="ctr"/>
            <a:r>
              <a:rPr lang="en-CA" sz="1100" dirty="0"/>
              <a:t>Zone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B96677-DE5E-835E-3735-8627A905B14D}"/>
              </a:ext>
            </a:extLst>
          </p:cNvPr>
          <p:cNvSpPr txBox="1"/>
          <p:nvPr/>
        </p:nvSpPr>
        <p:spPr>
          <a:xfrm>
            <a:off x="3216090" y="2662518"/>
            <a:ext cx="1524000" cy="14764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PocketBeagle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Python Program</a:t>
            </a:r>
          </a:p>
          <a:p>
            <a:pPr algn="ctr"/>
            <a:endParaRPr lang="en-CA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Read sensors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Identify zone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Lighting logic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Fade/delay light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EB62EC-9251-1022-E859-3FA55D864507}"/>
              </a:ext>
            </a:extLst>
          </p:cNvPr>
          <p:cNvSpPr txBox="1"/>
          <p:nvPr/>
        </p:nvSpPr>
        <p:spPr>
          <a:xfrm>
            <a:off x="6104447" y="3100668"/>
            <a:ext cx="1524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Level Shifter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(3.3V </a:t>
            </a:r>
            <a:r>
              <a:rPr lang="en-CA" sz="1100" dirty="0">
                <a:sym typeface="Wingdings" panose="05000000000000000000" pitchFamily="2" charset="2"/>
              </a:rPr>
              <a:t> 5V data)</a:t>
            </a:r>
            <a:endParaRPr lang="en-CA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F6C812-FF68-A56C-C082-5DC1FE71034E}"/>
              </a:ext>
            </a:extLst>
          </p:cNvPr>
          <p:cNvSpPr txBox="1"/>
          <p:nvPr/>
        </p:nvSpPr>
        <p:spPr>
          <a:xfrm>
            <a:off x="10343029" y="1790700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LED</a:t>
            </a:r>
          </a:p>
          <a:p>
            <a:pPr algn="ctr"/>
            <a:r>
              <a:rPr lang="en-CA" sz="1100" dirty="0"/>
              <a:t>Strip 1</a:t>
            </a:r>
          </a:p>
          <a:p>
            <a:pPr algn="ctr"/>
            <a:r>
              <a:rPr lang="en-CA" sz="1100" dirty="0"/>
              <a:t>Zone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2E785D-AE62-2DB3-C2FC-C93F9F3A74ED}"/>
              </a:ext>
            </a:extLst>
          </p:cNvPr>
          <p:cNvSpPr txBox="1"/>
          <p:nvPr/>
        </p:nvSpPr>
        <p:spPr>
          <a:xfrm>
            <a:off x="10334064" y="2667000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LED</a:t>
            </a:r>
          </a:p>
          <a:p>
            <a:pPr algn="ctr"/>
            <a:r>
              <a:rPr lang="en-CA" sz="1100" dirty="0"/>
              <a:t>Strip 2</a:t>
            </a:r>
          </a:p>
          <a:p>
            <a:pPr algn="ctr"/>
            <a:r>
              <a:rPr lang="en-CA" sz="1100" dirty="0"/>
              <a:t>Zone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0A912B-7F70-655A-792E-8DCC626594BA}"/>
              </a:ext>
            </a:extLst>
          </p:cNvPr>
          <p:cNvSpPr txBox="1"/>
          <p:nvPr/>
        </p:nvSpPr>
        <p:spPr>
          <a:xfrm>
            <a:off x="10334064" y="3543300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LED</a:t>
            </a:r>
          </a:p>
          <a:p>
            <a:pPr algn="ctr"/>
            <a:r>
              <a:rPr lang="en-CA" sz="1100" dirty="0"/>
              <a:t>Strip 3</a:t>
            </a:r>
          </a:p>
          <a:p>
            <a:pPr algn="ctr"/>
            <a:r>
              <a:rPr lang="en-CA" sz="1100" dirty="0"/>
              <a:t>Zone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73827D-E6D1-47A7-4F58-F7121F738DF1}"/>
              </a:ext>
            </a:extLst>
          </p:cNvPr>
          <p:cNvSpPr txBox="1"/>
          <p:nvPr/>
        </p:nvSpPr>
        <p:spPr>
          <a:xfrm>
            <a:off x="10331823" y="4419600"/>
            <a:ext cx="1143000" cy="600164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LED</a:t>
            </a:r>
          </a:p>
          <a:p>
            <a:pPr algn="ctr"/>
            <a:r>
              <a:rPr lang="en-CA" sz="1100" dirty="0"/>
              <a:t>Strip 4</a:t>
            </a:r>
          </a:p>
          <a:p>
            <a:pPr algn="ctr"/>
            <a:r>
              <a:rPr lang="en-CA" sz="1100" dirty="0"/>
              <a:t>Zone 4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C0799BE-DFB9-E05A-772B-05C05C076CB4}"/>
              </a:ext>
            </a:extLst>
          </p:cNvPr>
          <p:cNvCxnSpPr>
            <a:cxnSpLocks/>
            <a:stCxn id="7" idx="3"/>
            <a:endCxn id="15" idx="1"/>
          </p:cNvCxnSpPr>
          <p:nvPr/>
        </p:nvCxnSpPr>
        <p:spPr>
          <a:xfrm>
            <a:off x="1837765" y="2090782"/>
            <a:ext cx="1378325" cy="13099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CC277AD4-7ED0-51F1-878A-0E02E4B63F00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28800" y="2967082"/>
            <a:ext cx="1387290" cy="4336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5C513491-1AE6-7A3B-B302-02E28919002D}"/>
              </a:ext>
            </a:extLst>
          </p:cNvPr>
          <p:cNvCxnSpPr>
            <a:cxnSpLocks/>
            <a:stCxn id="11" idx="3"/>
            <a:endCxn id="15" idx="1"/>
          </p:cNvCxnSpPr>
          <p:nvPr/>
        </p:nvCxnSpPr>
        <p:spPr>
          <a:xfrm flipV="1">
            <a:off x="1828800" y="3400750"/>
            <a:ext cx="1387290" cy="4426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6333F58-05A9-19EA-EB0A-0A6752935B24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 flipV="1">
            <a:off x="1826559" y="3400750"/>
            <a:ext cx="1389531" cy="13189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921E52A-3011-13DF-AA3E-46A423D3B1F0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4740090" y="3400750"/>
            <a:ext cx="1364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62EEAB98-1BAF-3015-4636-0EF3AEF17132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7628447" y="2090782"/>
            <a:ext cx="2714582" cy="13099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5D9F0D10-D120-0E29-0597-093EB952A38F}"/>
              </a:ext>
            </a:extLst>
          </p:cNvPr>
          <p:cNvCxnSpPr>
            <a:cxnSpLocks/>
            <a:stCxn id="17" idx="3"/>
            <a:endCxn id="21" idx="1"/>
          </p:cNvCxnSpPr>
          <p:nvPr/>
        </p:nvCxnSpPr>
        <p:spPr>
          <a:xfrm flipV="1">
            <a:off x="7628447" y="2967082"/>
            <a:ext cx="2705617" cy="4336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06C01A10-24CE-4690-C67D-0578AACE9BFC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>
            <a:off x="7628447" y="3400750"/>
            <a:ext cx="2705617" cy="4426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EF942573-CF34-76BD-1B81-DEE3867860A6}"/>
              </a:ext>
            </a:extLst>
          </p:cNvPr>
          <p:cNvCxnSpPr>
            <a:cxnSpLocks/>
            <a:stCxn id="17" idx="3"/>
            <a:endCxn id="25" idx="1"/>
          </p:cNvCxnSpPr>
          <p:nvPr/>
        </p:nvCxnSpPr>
        <p:spPr>
          <a:xfrm>
            <a:off x="7628447" y="3400750"/>
            <a:ext cx="2703376" cy="13189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F57C387-DF4E-921C-C0E8-66F5F6EAC13C}"/>
              </a:ext>
            </a:extLst>
          </p:cNvPr>
          <p:cNvSpPr txBox="1"/>
          <p:nvPr/>
        </p:nvSpPr>
        <p:spPr>
          <a:xfrm>
            <a:off x="2008011" y="1829172"/>
            <a:ext cx="5357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GPIO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F5D3EFB-FC06-DE2C-4EAA-CC9C6848522B}"/>
              </a:ext>
            </a:extLst>
          </p:cNvPr>
          <p:cNvSpPr txBox="1"/>
          <p:nvPr/>
        </p:nvSpPr>
        <p:spPr>
          <a:xfrm>
            <a:off x="2008011" y="2705472"/>
            <a:ext cx="5357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GPIO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69C499-423B-15A4-9AFA-034C27805B95}"/>
              </a:ext>
            </a:extLst>
          </p:cNvPr>
          <p:cNvSpPr txBox="1"/>
          <p:nvPr/>
        </p:nvSpPr>
        <p:spPr>
          <a:xfrm>
            <a:off x="2008011" y="3581772"/>
            <a:ext cx="5357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GPIO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D679FE1-4A7E-5996-2FA2-6CC21036CF2F}"/>
              </a:ext>
            </a:extLst>
          </p:cNvPr>
          <p:cNvSpPr txBox="1"/>
          <p:nvPr/>
        </p:nvSpPr>
        <p:spPr>
          <a:xfrm>
            <a:off x="2008011" y="4458072"/>
            <a:ext cx="5357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GPIO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F23DC79-6AB9-2D98-CD4B-14E1B86C39F7}"/>
              </a:ext>
            </a:extLst>
          </p:cNvPr>
          <p:cNvSpPr txBox="1"/>
          <p:nvPr/>
        </p:nvSpPr>
        <p:spPr>
          <a:xfrm>
            <a:off x="4753535" y="3139140"/>
            <a:ext cx="1334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GPIO / digital data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D5054E7-AC31-835C-6809-0214BC505435}"/>
              </a:ext>
            </a:extLst>
          </p:cNvPr>
          <p:cNvSpPr txBox="1"/>
          <p:nvPr/>
        </p:nvSpPr>
        <p:spPr>
          <a:xfrm>
            <a:off x="7626206" y="3139279"/>
            <a:ext cx="13933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WS2812B data line</a:t>
            </a:r>
          </a:p>
        </p:txBody>
      </p:sp>
    </p:spTree>
    <p:extLst>
      <p:ext uri="{BB962C8B-B14F-4D97-AF65-F5344CB8AC3E}">
        <p14:creationId xmlns:p14="http://schemas.microsoft.com/office/powerpoint/2010/main" val="317723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A22CC-CB04-4CE5-CAC5-402D0F09C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BEE50-486D-8AFC-36A0-5D0ADF80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E4405-AD86-4D81-2DEC-B8E0F9C6BC47}"/>
              </a:ext>
            </a:extLst>
          </p:cNvPr>
          <p:cNvSpPr txBox="1"/>
          <p:nvPr/>
        </p:nvSpPr>
        <p:spPr>
          <a:xfrm>
            <a:off x="5448300" y="1409700"/>
            <a:ext cx="1295400" cy="2616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5V USB Power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D9FA0-BD44-AC81-55C9-AD8C9416EF24}"/>
              </a:ext>
            </a:extLst>
          </p:cNvPr>
          <p:cNvSpPr txBox="1"/>
          <p:nvPr/>
        </p:nvSpPr>
        <p:spPr>
          <a:xfrm>
            <a:off x="5443818" y="2286000"/>
            <a:ext cx="1295400" cy="2616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PocketBeagle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495BBF-6DB5-9248-3035-A1338449E867}"/>
              </a:ext>
            </a:extLst>
          </p:cNvPr>
          <p:cNvSpPr txBox="1"/>
          <p:nvPr/>
        </p:nvSpPr>
        <p:spPr>
          <a:xfrm>
            <a:off x="4572000" y="3179204"/>
            <a:ext cx="1295400" cy="2616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5V out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1E79F8-3438-13EB-79B4-F63F8EA4F648}"/>
              </a:ext>
            </a:extLst>
          </p:cNvPr>
          <p:cNvSpPr txBox="1"/>
          <p:nvPr/>
        </p:nvSpPr>
        <p:spPr>
          <a:xfrm>
            <a:off x="7230036" y="3191018"/>
            <a:ext cx="1295400" cy="26161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3.3V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D604C2-DBDF-3BF3-0E46-74BD2F116306}"/>
              </a:ext>
            </a:extLst>
          </p:cNvPr>
          <p:cNvSpPr txBox="1"/>
          <p:nvPr/>
        </p:nvSpPr>
        <p:spPr>
          <a:xfrm>
            <a:off x="3657600" y="4130070"/>
            <a:ext cx="1295400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HC-SR501 ×4</a:t>
            </a:r>
          </a:p>
          <a:p>
            <a:pPr algn="ctr"/>
            <a:r>
              <a:rPr lang="en-CA" sz="1100" dirty="0"/>
              <a:t>PIR Sensors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5V Supply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CFC9EB-A0F4-C1FE-F000-0D768A8C6B06}"/>
              </a:ext>
            </a:extLst>
          </p:cNvPr>
          <p:cNvSpPr txBox="1"/>
          <p:nvPr/>
        </p:nvSpPr>
        <p:spPr>
          <a:xfrm>
            <a:off x="5443818" y="4130069"/>
            <a:ext cx="1295400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WS2812B ×4</a:t>
            </a:r>
          </a:p>
          <a:p>
            <a:pPr algn="ctr"/>
            <a:r>
              <a:rPr lang="en-CA" sz="1100" dirty="0"/>
              <a:t>LED Strips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5V Supply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008BDD-0D2A-10EE-592D-835865041656}"/>
              </a:ext>
            </a:extLst>
          </p:cNvPr>
          <p:cNvSpPr txBox="1"/>
          <p:nvPr/>
        </p:nvSpPr>
        <p:spPr>
          <a:xfrm>
            <a:off x="7230036" y="4130069"/>
            <a:ext cx="1295400" cy="769441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A" sz="1100" dirty="0"/>
              <a:t>Level Shifter</a:t>
            </a:r>
          </a:p>
          <a:p>
            <a:pPr algn="ctr"/>
            <a:r>
              <a:rPr lang="en-CA" sz="1100" dirty="0"/>
              <a:t>Logic Side</a:t>
            </a:r>
          </a:p>
          <a:p>
            <a:pPr algn="ctr"/>
            <a:endParaRPr lang="en-CA" sz="1100" dirty="0"/>
          </a:p>
          <a:p>
            <a:pPr algn="ctr"/>
            <a:r>
              <a:rPr lang="en-CA" sz="1100" dirty="0"/>
              <a:t>3.3V Supply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61ACD7-4973-18E2-C38D-C04B27CB2AE7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6091518" y="1671310"/>
            <a:ext cx="4482" cy="614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B13C055-03E7-B559-A9CF-BCDF9590B1A9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rot="5400000">
            <a:off x="5339812" y="2427498"/>
            <a:ext cx="631594" cy="87181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DB45F26E-F874-23B0-545D-9233A170D88D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rot="16200000" flipH="1">
            <a:off x="6662923" y="1976205"/>
            <a:ext cx="643408" cy="1786218"/>
          </a:xfrm>
          <a:prstGeom prst="bentConnector3">
            <a:avLst>
              <a:gd name="adj1" fmla="val 4926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A894C07-DE93-63E6-5994-FBF11DB44EE5}"/>
              </a:ext>
            </a:extLst>
          </p:cNvPr>
          <p:cNvCxnSpPr>
            <a:cxnSpLocks/>
            <a:stCxn id="12" idx="2"/>
            <a:endCxn id="18" idx="0"/>
          </p:cNvCxnSpPr>
          <p:nvPr/>
        </p:nvCxnSpPr>
        <p:spPr>
          <a:xfrm rot="5400000">
            <a:off x="4417872" y="3328242"/>
            <a:ext cx="689256" cy="9144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F6B84533-BD89-DA40-5747-887E1E07A228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 rot="16200000" flipH="1">
            <a:off x="5310982" y="3349532"/>
            <a:ext cx="689255" cy="87181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2B3F2E3-C053-C1D9-D126-986BEA1F2F7A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7877736" y="3452628"/>
            <a:ext cx="0" cy="677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BD3B0E99-E213-6A39-A749-BB8D9C49962C}"/>
              </a:ext>
            </a:extLst>
          </p:cNvPr>
          <p:cNvCxnSpPr>
            <a:cxnSpLocks/>
            <a:stCxn id="18" idx="2"/>
          </p:cNvCxnSpPr>
          <p:nvPr/>
        </p:nvCxnSpPr>
        <p:spPr>
          <a:xfrm rot="16200000" flipH="1">
            <a:off x="4916380" y="4288431"/>
            <a:ext cx="564059" cy="17862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3F6ADB3-19AD-FC01-187D-29F129F45075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091518" y="4899510"/>
            <a:ext cx="0" cy="5640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6D47CE0A-25BC-2C0F-0CF2-9612D28E71AC}"/>
              </a:ext>
            </a:extLst>
          </p:cNvPr>
          <p:cNvCxnSpPr>
            <a:cxnSpLocks/>
            <a:stCxn id="22" idx="2"/>
          </p:cNvCxnSpPr>
          <p:nvPr/>
        </p:nvCxnSpPr>
        <p:spPr>
          <a:xfrm rot="5400000">
            <a:off x="6702597" y="4288431"/>
            <a:ext cx="564060" cy="1786218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3B71299-78F8-C3B1-F271-589CCFCBB1E1}"/>
              </a:ext>
            </a:extLst>
          </p:cNvPr>
          <p:cNvSpPr txBox="1"/>
          <p:nvPr/>
        </p:nvSpPr>
        <p:spPr>
          <a:xfrm>
            <a:off x="5474201" y="5538145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100" dirty="0"/>
              <a:t>Common ground</a:t>
            </a:r>
          </a:p>
        </p:txBody>
      </p:sp>
    </p:spTree>
    <p:extLst>
      <p:ext uri="{BB962C8B-B14F-4D97-AF65-F5344CB8AC3E}">
        <p14:creationId xmlns:p14="http://schemas.microsoft.com/office/powerpoint/2010/main" val="101308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467B-51C2-4E0B-B52A-83BD9F0E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/ Budget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0B47F4B-CB02-4D02-BE84-F6BC57D0FE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713584"/>
              </p:ext>
            </p:extLst>
          </p:nvPr>
        </p:nvGraphicFramePr>
        <p:xfrm>
          <a:off x="609600" y="1295400"/>
          <a:ext cx="10972800" cy="3235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837714">
                  <a:extLst>
                    <a:ext uri="{9D8B030D-6E8A-4147-A177-3AD203B41FA5}">
                      <a16:colId xmlns:a16="http://schemas.microsoft.com/office/drawing/2014/main" val="3675253430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1372058784"/>
                    </a:ext>
                  </a:extLst>
                </a:gridCol>
                <a:gridCol w="1567543">
                  <a:extLst>
                    <a:ext uri="{9D8B030D-6E8A-4147-A177-3AD203B41FA5}">
                      <a16:colId xmlns:a16="http://schemas.microsoft.com/office/drawing/2014/main" val="3565830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EDES301</a:t>
                      </a:r>
                    </a:p>
                    <a:p>
                      <a:pPr algn="ctr"/>
                      <a:r>
                        <a:rPr lang="en-US" dirty="0"/>
                        <a:t> to Buy?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0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HC-SR501 motion sensors (4)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$7.91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3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Bidirectional level shifters (1)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2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BTF-LIGHTING WS2812B IC PC Light Strip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$17.99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49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PocketBeagle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no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840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Breadboard / Jumper Wires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35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USB Power Supply / Cable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48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$27.50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708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4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DFEA3-93A8-4943-9F3A-4798FB13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C9173-ADDE-4A3D-BDB4-3F990F103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Power Block Diagram</a:t>
            </a:r>
          </a:p>
          <a:p>
            <a:pPr lvl="1"/>
            <a:r>
              <a:rPr lang="en-US" dirty="0"/>
              <a:t>Label voltages / currents of components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F50E6-5081-4020-B7AA-69C2EF326ECB}"/>
              </a:ext>
            </a:extLst>
          </p:cNvPr>
          <p:cNvSpPr txBox="1"/>
          <p:nvPr/>
        </p:nvSpPr>
        <p:spPr>
          <a:xfrm>
            <a:off x="2857500" y="4152900"/>
            <a:ext cx="65628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Need All Power Inputs and Outputs</a:t>
            </a:r>
          </a:p>
        </p:txBody>
      </p:sp>
    </p:spTree>
    <p:extLst>
      <p:ext uri="{BB962C8B-B14F-4D97-AF65-F5344CB8AC3E}">
        <p14:creationId xmlns:p14="http://schemas.microsoft.com/office/powerpoint/2010/main" val="420461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B93E4-AB7E-4F3D-B6C5-4ED4B78F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Block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35D3-29E1-4175-8DE5-14986150C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System Block Diagram</a:t>
            </a:r>
          </a:p>
          <a:p>
            <a:pPr lvl="1"/>
            <a:r>
              <a:rPr lang="en-US" dirty="0"/>
              <a:t>Label interfaces (I2C, SPI, GPIO, </a:t>
            </a:r>
            <a:r>
              <a:rPr lang="en-US"/>
              <a:t>etc.; You </a:t>
            </a:r>
            <a:r>
              <a:rPr lang="en-US" dirty="0"/>
              <a:t>do not need to know all of the connections)</a:t>
            </a:r>
          </a:p>
          <a:p>
            <a:pPr lvl="1"/>
            <a:r>
              <a:rPr lang="en-US" dirty="0"/>
              <a:t>Components (part numbers if possible)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EF060-2D33-40AD-BF35-12E6A5F1F172}"/>
              </a:ext>
            </a:extLst>
          </p:cNvPr>
          <p:cNvSpPr txBox="1"/>
          <p:nvPr/>
        </p:nvSpPr>
        <p:spPr>
          <a:xfrm>
            <a:off x="3238500" y="4177725"/>
            <a:ext cx="57182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Need Moderate Level of Detail</a:t>
            </a:r>
          </a:p>
        </p:txBody>
      </p:sp>
    </p:spTree>
    <p:extLst>
      <p:ext uri="{BB962C8B-B14F-4D97-AF65-F5344CB8AC3E}">
        <p14:creationId xmlns:p14="http://schemas.microsoft.com/office/powerpoint/2010/main" val="140782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D53B4-427E-EA03-96F0-1205BE85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Selection (Remove slide for submission)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3A702-BE4B-FD4F-F718-52B4ADE0F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components must be from either:  </a:t>
            </a:r>
            <a:r>
              <a:rPr lang="en-US" dirty="0">
                <a:hlinkClick r:id="rId2"/>
              </a:rPr>
              <a:t>Amazon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Adafruit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Sparkfun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Digi-Key</a:t>
            </a:r>
            <a:r>
              <a:rPr lang="en-US" dirty="0"/>
              <a:t>, or </a:t>
            </a:r>
            <a:r>
              <a:rPr lang="en-US" dirty="0">
                <a:hlinkClick r:id="rId6"/>
              </a:rPr>
              <a:t>Mouser</a:t>
            </a:r>
            <a:endParaRPr lang="en-US" dirty="0"/>
          </a:p>
          <a:p>
            <a:r>
              <a:rPr lang="en-US" dirty="0"/>
              <a:t>Select no more than two (2) components that are not on approved component spreadsheet</a:t>
            </a:r>
          </a:p>
          <a:p>
            <a:pPr lvl="1"/>
            <a:r>
              <a:rPr lang="en-US" dirty="0"/>
              <a:t>See Canvas </a:t>
            </a:r>
            <a:r>
              <a:rPr lang="en-US" dirty="0">
                <a:sym typeface="Wingdings" panose="05000000000000000000" pitchFamily="2" charset="2"/>
              </a:rPr>
              <a:t> Files  assignments  EDES301_project_01_parts_list.xlsx</a:t>
            </a:r>
          </a:p>
          <a:p>
            <a:pPr lvl="1"/>
            <a:r>
              <a:rPr lang="en-US" dirty="0"/>
              <a:t>If there is a cheaper part that you would like to use, we can discuss in the project meeting</a:t>
            </a:r>
          </a:p>
          <a:p>
            <a:r>
              <a:rPr lang="en-US" dirty="0"/>
              <a:t>All components needed for the project should be listed on Slide 5</a:t>
            </a:r>
          </a:p>
          <a:p>
            <a:r>
              <a:rPr lang="en-US" dirty="0"/>
              <a:t>All components should have links to the website where they can be purchased</a:t>
            </a:r>
          </a:p>
          <a:p>
            <a:pPr lvl="1"/>
            <a:r>
              <a:rPr lang="en-US" dirty="0"/>
              <a:t>Please trim URLs for links to Amazon</a:t>
            </a:r>
          </a:p>
          <a:p>
            <a:r>
              <a:rPr lang="en-US" dirty="0"/>
              <a:t>EDES301 will supplement $25 to $35 dollars for components</a:t>
            </a:r>
          </a:p>
          <a:p>
            <a:pPr lvl="1"/>
            <a:r>
              <a:rPr lang="en-US" dirty="0"/>
              <a:t>Please indicate what components need to be purchased by EDES301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9BE50F-C22E-20BE-3553-2BC61AE40EA1}"/>
              </a:ext>
            </a:extLst>
          </p:cNvPr>
          <p:cNvSpPr txBox="1"/>
          <p:nvPr/>
        </p:nvSpPr>
        <p:spPr>
          <a:xfrm>
            <a:off x="2590800" y="6286500"/>
            <a:ext cx="7083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have a special request, we can discuss in the project meeting</a:t>
            </a:r>
          </a:p>
        </p:txBody>
      </p:sp>
    </p:spTree>
    <p:extLst>
      <p:ext uri="{BB962C8B-B14F-4D97-AF65-F5344CB8AC3E}">
        <p14:creationId xmlns:p14="http://schemas.microsoft.com/office/powerpoint/2010/main" val="180418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8653</TotalTime>
  <Words>586</Words>
  <Application>Microsoft Office PowerPoint</Application>
  <PresentationFormat>Widescreen</PresentationFormat>
  <Paragraphs>124</Paragraphs>
  <Slides>10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Wingdings</vt:lpstr>
      <vt:lpstr>Diamond Grid 16x9</vt:lpstr>
      <vt:lpstr>EDES 301  Responsive Path Lighting Proposal</vt:lpstr>
      <vt:lpstr>Background Information</vt:lpstr>
      <vt:lpstr>Background Information</vt:lpstr>
      <vt:lpstr>Background Information</vt:lpstr>
      <vt:lpstr>System Block Diagram</vt:lpstr>
      <vt:lpstr>Power Block Diagram</vt:lpstr>
      <vt:lpstr>Components / Budget</vt:lpstr>
      <vt:lpstr>Power Block Diagram</vt:lpstr>
      <vt:lpstr>System Block Diagram</vt:lpstr>
      <vt:lpstr>Component Selection (Remove slide for submission)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Kathy Xu</cp:lastModifiedBy>
  <cp:revision>415</cp:revision>
  <dcterms:created xsi:type="dcterms:W3CDTF">2018-01-09T20:24:50Z</dcterms:created>
  <dcterms:modified xsi:type="dcterms:W3CDTF">2026-10-01T05:53:59Z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