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1" r:id="rId2"/>
    <p:sldId id="367" r:id="rId3"/>
    <p:sldId id="373" r:id="rId4"/>
    <p:sldId id="372" r:id="rId5"/>
    <p:sldId id="374" r:id="rId6"/>
    <p:sldId id="375" r:id="rId7"/>
    <p:sldId id="3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6" autoAdjust="0"/>
    <p:restoredTop sz="94706" autoAdjust="0"/>
  </p:normalViewPr>
  <p:slideViewPr>
    <p:cSldViewPr>
      <p:cViewPr varScale="1">
        <p:scale>
          <a:sx n="107" d="100"/>
          <a:sy n="107" d="100"/>
        </p:scale>
        <p:origin x="636" y="14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10/8/2026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.adafruit.com/adafruit-vl53l0x-micro-lidar-distance-sensor-breakout/python-circuitpyth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1604" y="1737360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Responsive Path Lighting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2026/09/30</a:t>
            </a:r>
          </a:p>
          <a:p>
            <a:r>
              <a:rPr lang="en-US" dirty="0"/>
              <a:t>Kathy Xu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an architecture student, I am interested in how lighting can guide movement and shape spatial experience. Instead of treating circulation lighting as a static condition, this project explores how light can respond to both people moving through a path and changing environmental conditions, using brightness and color to create a more responsive outdoor space.</a:t>
            </a:r>
          </a:p>
          <a:p>
            <a:r>
              <a:rPr lang="en-US" dirty="0"/>
              <a:t>What is being proposed?</a:t>
            </a:r>
          </a:p>
          <a:p>
            <a:pPr lvl="1"/>
            <a:r>
              <a:rPr lang="en-US" dirty="0"/>
              <a:t>A responsive outdoor circulation lighting system that reacts to movement and environmental conditions.</a:t>
            </a:r>
          </a:p>
          <a:p>
            <a:pPr lvl="1"/>
            <a:r>
              <a:rPr lang="en-US" dirty="0"/>
              <a:t>Three VL53L0X distance sensors detect a user’s position and proximity along a path.</a:t>
            </a:r>
          </a:p>
          <a:p>
            <a:pPr lvl="1"/>
            <a:r>
              <a:rPr lang="en-US" dirty="0"/>
              <a:t>Each sensor controls a corresponding lighting zone.</a:t>
            </a:r>
          </a:p>
          <a:p>
            <a:pPr lvl="1"/>
            <a:r>
              <a:rPr lang="en-US" dirty="0"/>
              <a:t>Lights intensity changes according to the user’s distance from each zone.</a:t>
            </a:r>
          </a:p>
          <a:p>
            <a:pPr lvl="1"/>
            <a:r>
              <a:rPr lang="en-US" dirty="0"/>
              <a:t>Temperature data influence the color of the lighting.</a:t>
            </a:r>
          </a:p>
          <a:p>
            <a:pPr lvl="1"/>
            <a:r>
              <a:rPr lang="en-US" dirty="0"/>
              <a:t>Time of day adjusts the baseline lighting level.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A86D-EE3B-D3A6-60AE-458549DC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B1A-704C-6849-271B-0AC37BD2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pic>
        <p:nvPicPr>
          <p:cNvPr id="6" name="Picture 5" descr="Foco empotrable marcador de paso con luz LED y sensor de movimiento PIR potencia regulable 4W 2W para escaleras pasillo Redondo Blanco 230V | Leroy Merlin">
            <a:extLst>
              <a:ext uri="{FF2B5EF4-FFF2-40B4-BE49-F238E27FC236}">
                <a16:creationId xmlns:a16="http://schemas.microsoft.com/office/drawing/2014/main" id="{C0B91B5F-0A06-902A-BB24-00E39EB5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82" y="455682"/>
            <a:ext cx="5291418" cy="5291418"/>
          </a:xfrm>
          <a:prstGeom prst="rect">
            <a:avLst/>
          </a:prstGeom>
        </p:spPr>
      </p:pic>
      <p:pic>
        <p:nvPicPr>
          <p:cNvPr id="7" name="Picture 6" descr="Rice's new 'forward-thinking' art installation highlights climate change  through voices of activists, scholars and scientists | Rice News | News and  Media Relations | Rice University">
            <a:extLst>
              <a:ext uri="{FF2B5EF4-FFF2-40B4-BE49-F238E27FC236}">
                <a16:creationId xmlns:a16="http://schemas.microsoft.com/office/drawing/2014/main" id="{0AA79A8F-FA70-5130-4E0E-C6B89A702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47" y="2171700"/>
            <a:ext cx="5277972" cy="35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68D6-C47E-1EE1-BC7C-0B5340B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A01C-23C7-3A9E-7FF5-3C3BD035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798E4-2A6C-C571-F49C-D6E6E7FA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improvements / additions over existing project</a:t>
            </a:r>
          </a:p>
          <a:p>
            <a:pPr lvl="1"/>
            <a:r>
              <a:rPr lang="en-US" dirty="0"/>
              <a:t>Link: </a:t>
            </a:r>
            <a:r>
              <a:rPr lang="en-US" dirty="0">
                <a:hlinkClick r:id="rId2"/>
              </a:rPr>
              <a:t>https://learn.adafruit.com/adafruit-vl53l0x-micro-lidar-distance-sensor-breakout/python-circuitpython</a:t>
            </a:r>
            <a:endParaRPr lang="en-US" dirty="0"/>
          </a:p>
          <a:p>
            <a:pPr lvl="1"/>
            <a:r>
              <a:rPr lang="en-US" dirty="0"/>
              <a:t>Expands from basic distance-sensor reading to three sensing zones along an outdoor circulation path.</a:t>
            </a:r>
          </a:p>
          <a:p>
            <a:pPr lvl="1"/>
            <a:r>
              <a:rPr lang="en-US" dirty="0"/>
              <a:t>Uses distance measurements to control lighting intensity, rather than only displaying or printing distance values.</a:t>
            </a:r>
          </a:p>
          <a:p>
            <a:pPr lvl="1"/>
            <a:r>
              <a:rPr lang="en-US" dirty="0"/>
              <a:t>Adds temperature as a second environmental input that controls lighting color.</a:t>
            </a:r>
          </a:p>
          <a:p>
            <a:pPr lvl="1"/>
            <a:r>
              <a:rPr lang="en-US" dirty="0"/>
              <a:t>Adds time-of-day behavior to modify the overall lighting mode or brightness.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1FB5F-BE9C-C735-F833-57CE84340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314" y="4152900"/>
            <a:ext cx="2692397" cy="201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4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E315-070F-5DCF-4DF9-CBE20307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5F6A-AC17-FAF4-F446-4EC1E6C6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BFC74-CEC6-F18E-465B-3ED87BA55DFA}"/>
              </a:ext>
            </a:extLst>
          </p:cNvPr>
          <p:cNvSpPr txBox="1"/>
          <p:nvPr/>
        </p:nvSpPr>
        <p:spPr>
          <a:xfrm>
            <a:off x="682001" y="1778955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VL53L0X</a:t>
            </a:r>
          </a:p>
          <a:p>
            <a:pPr algn="ctr"/>
            <a:r>
              <a:rPr lang="en-CA" sz="1100" dirty="0"/>
              <a:t>Sensor 1</a:t>
            </a:r>
          </a:p>
          <a:p>
            <a:pPr algn="ctr"/>
            <a:r>
              <a:rPr lang="en-CA" sz="1100" dirty="0"/>
              <a:t>Zone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1FAA4-95DE-5BCE-5E40-7B15F3CA2A20}"/>
              </a:ext>
            </a:extLst>
          </p:cNvPr>
          <p:cNvSpPr txBox="1"/>
          <p:nvPr/>
        </p:nvSpPr>
        <p:spPr>
          <a:xfrm>
            <a:off x="673036" y="2655255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VL53L0X</a:t>
            </a:r>
          </a:p>
          <a:p>
            <a:pPr algn="ctr"/>
            <a:r>
              <a:rPr lang="en-CA" sz="1100" dirty="0"/>
              <a:t>Sensor 2</a:t>
            </a:r>
          </a:p>
          <a:p>
            <a:pPr algn="ctr"/>
            <a:r>
              <a:rPr lang="en-CA" sz="1100" dirty="0"/>
              <a:t>Zone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64BD4-F0B6-C8C9-21C9-FF0B2163406C}"/>
              </a:ext>
            </a:extLst>
          </p:cNvPr>
          <p:cNvSpPr txBox="1"/>
          <p:nvPr/>
        </p:nvSpPr>
        <p:spPr>
          <a:xfrm>
            <a:off x="673036" y="3531555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PIR</a:t>
            </a:r>
          </a:p>
          <a:p>
            <a:pPr algn="ctr"/>
            <a:r>
              <a:rPr lang="en-CA" sz="1100" dirty="0"/>
              <a:t>Sensor 3</a:t>
            </a:r>
          </a:p>
          <a:p>
            <a:pPr algn="ctr"/>
            <a:r>
              <a:rPr lang="en-CA" sz="1100" dirty="0"/>
              <a:t>Zone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96677-DE5E-835E-3735-8627A905B14D}"/>
              </a:ext>
            </a:extLst>
          </p:cNvPr>
          <p:cNvSpPr txBox="1"/>
          <p:nvPr/>
        </p:nvSpPr>
        <p:spPr>
          <a:xfrm>
            <a:off x="3146250" y="2508198"/>
            <a:ext cx="1609526" cy="178510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PocketBeagle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Python Program</a:t>
            </a:r>
          </a:p>
          <a:p>
            <a:pPr algn="ctr"/>
            <a:endParaRPr lang="en-CA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Read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Read 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Identify zone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Set Brightness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Set color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Fade/timing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B62EC-9251-1022-E859-3FA55D864507}"/>
              </a:ext>
            </a:extLst>
          </p:cNvPr>
          <p:cNvSpPr txBox="1"/>
          <p:nvPr/>
        </p:nvSpPr>
        <p:spPr>
          <a:xfrm>
            <a:off x="6104447" y="3100668"/>
            <a:ext cx="1524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Level Shifter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(3.3V </a:t>
            </a:r>
            <a:r>
              <a:rPr lang="en-CA" sz="1100" dirty="0">
                <a:sym typeface="Wingdings" panose="05000000000000000000" pitchFamily="2" charset="2"/>
              </a:rPr>
              <a:t> 5V data)</a:t>
            </a:r>
            <a:endParaRPr lang="en-CA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6C812-FF68-A56C-C082-5DC1FE71034E}"/>
              </a:ext>
            </a:extLst>
          </p:cNvPr>
          <p:cNvSpPr txBox="1"/>
          <p:nvPr/>
        </p:nvSpPr>
        <p:spPr>
          <a:xfrm>
            <a:off x="10343029" y="2224368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1</a:t>
            </a:r>
          </a:p>
          <a:p>
            <a:pPr algn="ctr"/>
            <a:r>
              <a:rPr lang="en-CA" sz="1100" dirty="0"/>
              <a:t>Zone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2E785D-AE62-2DB3-C2FC-C93F9F3A74ED}"/>
              </a:ext>
            </a:extLst>
          </p:cNvPr>
          <p:cNvSpPr txBox="1"/>
          <p:nvPr/>
        </p:nvSpPr>
        <p:spPr>
          <a:xfrm>
            <a:off x="10334064" y="3100668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2</a:t>
            </a:r>
          </a:p>
          <a:p>
            <a:pPr algn="ctr"/>
            <a:r>
              <a:rPr lang="en-CA" sz="1100" dirty="0"/>
              <a:t>Zone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A912B-7F70-655A-792E-8DCC626594BA}"/>
              </a:ext>
            </a:extLst>
          </p:cNvPr>
          <p:cNvSpPr txBox="1"/>
          <p:nvPr/>
        </p:nvSpPr>
        <p:spPr>
          <a:xfrm>
            <a:off x="10334064" y="3976968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3</a:t>
            </a:r>
          </a:p>
          <a:p>
            <a:pPr algn="ctr"/>
            <a:r>
              <a:rPr lang="en-CA" sz="1100" dirty="0"/>
              <a:t>Zone 3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C0799BE-DFB9-E05A-772B-05C05C076CB4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1825001" y="2079037"/>
            <a:ext cx="1321249" cy="1321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C277AD4-7ED0-51F1-878A-0E02E4B63F00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16036" y="2955337"/>
            <a:ext cx="1330214" cy="4454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C513491-1AE6-7A3B-B302-02E28919002D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1816036" y="3400750"/>
            <a:ext cx="1330214" cy="4308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921E52A-3011-13DF-AA3E-46A423D3B1F0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4755776" y="3400750"/>
            <a:ext cx="1348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2EEAB98-1BAF-3015-4636-0EF3AEF1713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7628447" y="2524450"/>
            <a:ext cx="2714582" cy="8763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D9F0D10-D120-0E29-0597-093EB952A38F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7628447" y="3400750"/>
            <a:ext cx="270561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6C01A10-24CE-4690-C67D-0578AACE9BFC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7628447" y="3400750"/>
            <a:ext cx="2705617" cy="8763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57C387-DF4E-921C-C0E8-66F5F6EAC13C}"/>
              </a:ext>
            </a:extLst>
          </p:cNvPr>
          <p:cNvSpPr txBox="1"/>
          <p:nvPr/>
        </p:nvSpPr>
        <p:spPr>
          <a:xfrm>
            <a:off x="1995247" y="1817427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I2C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5D3EFB-FC06-DE2C-4EAA-CC9C6848522B}"/>
              </a:ext>
            </a:extLst>
          </p:cNvPr>
          <p:cNvSpPr txBox="1"/>
          <p:nvPr/>
        </p:nvSpPr>
        <p:spPr>
          <a:xfrm>
            <a:off x="1995247" y="2693727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I2C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69C499-423B-15A4-9AFA-034C27805B95}"/>
              </a:ext>
            </a:extLst>
          </p:cNvPr>
          <p:cNvSpPr txBox="1"/>
          <p:nvPr/>
        </p:nvSpPr>
        <p:spPr>
          <a:xfrm>
            <a:off x="1995247" y="3570027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I2C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23DC79-6AB9-2D98-CD4B-14E1B86C39F7}"/>
              </a:ext>
            </a:extLst>
          </p:cNvPr>
          <p:cNvSpPr txBox="1"/>
          <p:nvPr/>
        </p:nvSpPr>
        <p:spPr>
          <a:xfrm>
            <a:off x="4753535" y="3139140"/>
            <a:ext cx="1334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 / digital data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5054E7-AC31-835C-6809-0214BC505435}"/>
              </a:ext>
            </a:extLst>
          </p:cNvPr>
          <p:cNvSpPr txBox="1"/>
          <p:nvPr/>
        </p:nvSpPr>
        <p:spPr>
          <a:xfrm>
            <a:off x="7626206" y="3139279"/>
            <a:ext cx="1393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WS2812B data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6DEF2-81E5-9B6F-A090-F78C932056A1}"/>
              </a:ext>
            </a:extLst>
          </p:cNvPr>
          <p:cNvSpPr txBox="1"/>
          <p:nvPr/>
        </p:nvSpPr>
        <p:spPr>
          <a:xfrm>
            <a:off x="673036" y="4584505"/>
            <a:ext cx="1151966" cy="43088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Temp/Humidity Sensor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FDE7369-E454-B6F6-B44B-B07A0CA52D0E}"/>
              </a:ext>
            </a:extLst>
          </p:cNvPr>
          <p:cNvCxnSpPr>
            <a:cxnSpLocks/>
            <a:stCxn id="20" idx="3"/>
            <a:endCxn id="15" idx="1"/>
          </p:cNvCxnSpPr>
          <p:nvPr/>
        </p:nvCxnSpPr>
        <p:spPr>
          <a:xfrm flipV="1">
            <a:off x="1825002" y="3400750"/>
            <a:ext cx="1321248" cy="1399199"/>
          </a:xfrm>
          <a:prstGeom prst="bentConnector3">
            <a:avLst>
              <a:gd name="adj1" fmla="val 717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F17699F-1A37-930D-8ED6-6C36F9C7D7EE}"/>
              </a:ext>
            </a:extLst>
          </p:cNvPr>
          <p:cNvSpPr txBox="1"/>
          <p:nvPr/>
        </p:nvSpPr>
        <p:spPr>
          <a:xfrm>
            <a:off x="2318407" y="4556019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I2C</a:t>
            </a:r>
          </a:p>
        </p:txBody>
      </p:sp>
    </p:spTree>
    <p:extLst>
      <p:ext uri="{BB962C8B-B14F-4D97-AF65-F5344CB8AC3E}">
        <p14:creationId xmlns:p14="http://schemas.microsoft.com/office/powerpoint/2010/main" val="317723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22CC-CB04-4CE5-CAC5-402D0F09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EE50-486D-8AFC-36A0-5D0ADF80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E4405-AD86-4D81-2DEC-B8E0F9C6BC47}"/>
              </a:ext>
            </a:extLst>
          </p:cNvPr>
          <p:cNvSpPr txBox="1"/>
          <p:nvPr/>
        </p:nvSpPr>
        <p:spPr>
          <a:xfrm>
            <a:off x="5448300" y="1409700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5V USB 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D9FA0-BD44-AC81-55C9-AD8C9416EF24}"/>
              </a:ext>
            </a:extLst>
          </p:cNvPr>
          <p:cNvSpPr txBox="1"/>
          <p:nvPr/>
        </p:nvSpPr>
        <p:spPr>
          <a:xfrm>
            <a:off x="3639670" y="2431163"/>
            <a:ext cx="1295400" cy="43088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PocketBeagle</a:t>
            </a:r>
          </a:p>
          <a:p>
            <a:pPr algn="ctr"/>
            <a:r>
              <a:rPr lang="en-CA" sz="1100" dirty="0"/>
              <a:t>5V 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95BBF-6DB5-9248-3035-A1338449E867}"/>
              </a:ext>
            </a:extLst>
          </p:cNvPr>
          <p:cNvSpPr txBox="1"/>
          <p:nvPr/>
        </p:nvSpPr>
        <p:spPr>
          <a:xfrm>
            <a:off x="3639670" y="3093912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3.3V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D604C2-DBDF-3BF3-0E46-74BD2F116306}"/>
              </a:ext>
            </a:extLst>
          </p:cNvPr>
          <p:cNvSpPr txBox="1"/>
          <p:nvPr/>
        </p:nvSpPr>
        <p:spPr>
          <a:xfrm>
            <a:off x="2059637" y="4130069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VL53L0X ×3</a:t>
            </a:r>
          </a:p>
          <a:p>
            <a:pPr algn="ctr"/>
            <a:r>
              <a:rPr lang="en-CA" sz="1100" dirty="0"/>
              <a:t>Distance Sensors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3.3V Supply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FC9EB-A0F4-C1FE-F000-0D768A8C6B06}"/>
              </a:ext>
            </a:extLst>
          </p:cNvPr>
          <p:cNvSpPr txBox="1"/>
          <p:nvPr/>
        </p:nvSpPr>
        <p:spPr>
          <a:xfrm>
            <a:off x="6286500" y="2425721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×4</a:t>
            </a:r>
          </a:p>
          <a:p>
            <a:pPr algn="ctr"/>
            <a:r>
              <a:rPr lang="en-CA" sz="1100" dirty="0"/>
              <a:t>LED Strips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5V Supply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008BDD-0D2A-10EE-592D-835865041656}"/>
              </a:ext>
            </a:extLst>
          </p:cNvPr>
          <p:cNvSpPr txBox="1"/>
          <p:nvPr/>
        </p:nvSpPr>
        <p:spPr>
          <a:xfrm>
            <a:off x="5197290" y="4130069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Level Shifter</a:t>
            </a:r>
          </a:p>
          <a:p>
            <a:pPr algn="ctr"/>
            <a:r>
              <a:rPr lang="en-CA" sz="1100" dirty="0"/>
              <a:t>Logic Side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LV = 3.3V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894C07-DE93-63E6-5994-FBF11DB44EE5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5400000">
            <a:off x="3110081" y="2952779"/>
            <a:ext cx="774547" cy="15800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D3B0E99-E213-6A39-A749-BB8D9C49962C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3318417" y="4288430"/>
            <a:ext cx="564059" cy="17862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D47CE0A-25BC-2C0F-0CF2-9612D28E71AC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>
            <a:off x="4669851" y="4288431"/>
            <a:ext cx="564060" cy="17862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B71299-78F8-C3B1-F271-589CCFCBB1E1}"/>
              </a:ext>
            </a:extLst>
          </p:cNvPr>
          <p:cNvSpPr txBox="1"/>
          <p:nvPr/>
        </p:nvSpPr>
        <p:spPr>
          <a:xfrm>
            <a:off x="5474201" y="5538145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Common ground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3534E98-BAC0-2D22-9A4D-4196A3EC7CD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4811759" y="1146921"/>
            <a:ext cx="759853" cy="18086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33D08B2-22C4-5FBF-FB07-9E97F4DAADC7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16200000" flipH="1">
            <a:off x="6137895" y="1629415"/>
            <a:ext cx="754411" cy="838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A09A8C4-FFAF-D98F-BEA0-AB6D108B870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4287370" y="2862050"/>
            <a:ext cx="0" cy="231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DD9FCCC-6A40-17DD-10BA-A6C7840A595A}"/>
              </a:ext>
            </a:extLst>
          </p:cNvPr>
          <p:cNvSpPr txBox="1"/>
          <p:nvPr/>
        </p:nvSpPr>
        <p:spPr>
          <a:xfrm>
            <a:off x="3525370" y="4136373"/>
            <a:ext cx="1501587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AHT10</a:t>
            </a:r>
          </a:p>
          <a:p>
            <a:pPr algn="ctr"/>
            <a:r>
              <a:rPr lang="en-CA" sz="1100" dirty="0"/>
              <a:t>Temp/Hum. Sensor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3.3V Supply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A7DA161-9E70-65D6-517B-BAFD71B4EC7C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 flipH="1">
            <a:off x="4276164" y="3355522"/>
            <a:ext cx="11206" cy="780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15838AF-8164-38DE-1BF7-5A80C6BF545E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 rot="16200000" flipH="1">
            <a:off x="4678907" y="2963985"/>
            <a:ext cx="774547" cy="15576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84C5C02-1ED2-7920-2085-278EC36B572E}"/>
              </a:ext>
            </a:extLst>
          </p:cNvPr>
          <p:cNvSpPr txBox="1"/>
          <p:nvPr/>
        </p:nvSpPr>
        <p:spPr>
          <a:xfrm>
            <a:off x="8097370" y="2425721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Level Shifter</a:t>
            </a:r>
          </a:p>
          <a:p>
            <a:pPr algn="ctr"/>
            <a:r>
              <a:rPr lang="en-CA" sz="1100" dirty="0"/>
              <a:t>Logic Side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HV = 5V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CB95643-D178-9B4B-94BE-B7B3FD05518A}"/>
              </a:ext>
            </a:extLst>
          </p:cNvPr>
          <p:cNvCxnSpPr>
            <a:cxnSpLocks/>
            <a:stCxn id="8" idx="2"/>
            <a:endCxn id="69" idx="0"/>
          </p:cNvCxnSpPr>
          <p:nvPr/>
        </p:nvCxnSpPr>
        <p:spPr>
          <a:xfrm rot="16200000" flipH="1">
            <a:off x="7043330" y="723980"/>
            <a:ext cx="754411" cy="26490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9FEAD9E-90DA-EFBB-0A5D-572C5AF8B276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4561749" y="3091117"/>
            <a:ext cx="2268407" cy="24764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E320EFB6-F927-70A3-0C33-D46F8159F3EE}"/>
              </a:ext>
            </a:extLst>
          </p:cNvPr>
          <p:cNvCxnSpPr>
            <a:cxnSpLocks/>
            <a:stCxn id="69" idx="2"/>
          </p:cNvCxnSpPr>
          <p:nvPr/>
        </p:nvCxnSpPr>
        <p:spPr>
          <a:xfrm rot="5400000">
            <a:off x="6160827" y="2879325"/>
            <a:ext cx="2268407" cy="29000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08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769774"/>
              </p:ext>
            </p:extLst>
          </p:nvPr>
        </p:nvGraphicFramePr>
        <p:xfrm>
          <a:off x="609600" y="1295400"/>
          <a:ext cx="10972800" cy="3606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VL53L0X Distance Sensors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AHT10 Temp/Humidity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0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Bidirectional level shifters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BTF-LIGHTING WS2812B IC PC Light Strip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$13.49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PocketBeagle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Breadboard / Jumper Wires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USB Power Supply / Cable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$25.78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8704</TotalTime>
  <Words>412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Wingdings</vt:lpstr>
      <vt:lpstr>Diamond Grid 16x9</vt:lpstr>
      <vt:lpstr>EDES 301  Responsive Path Lighting Proposal</vt:lpstr>
      <vt:lpstr>Background Information</vt:lpstr>
      <vt:lpstr>Background Information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Kathy Xu</cp:lastModifiedBy>
  <cp:revision>417</cp:revision>
  <dcterms:created xsi:type="dcterms:W3CDTF">2018-01-09T20:24:50Z</dcterms:created>
  <dcterms:modified xsi:type="dcterms:W3CDTF">2026-10-08T20:44:36Z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