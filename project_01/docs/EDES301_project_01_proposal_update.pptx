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61" r:id="rId2"/>
    <p:sldId id="367" r:id="rId3"/>
    <p:sldId id="373" r:id="rId4"/>
    <p:sldId id="372" r:id="rId5"/>
    <p:sldId id="374" r:id="rId6"/>
    <p:sldId id="375" r:id="rId7"/>
    <p:sldId id="36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6" autoAdjust="0"/>
    <p:restoredTop sz="94706" autoAdjust="0"/>
  </p:normalViewPr>
  <p:slideViewPr>
    <p:cSldViewPr>
      <p:cViewPr varScale="1">
        <p:scale>
          <a:sx n="153" d="100"/>
          <a:sy n="153" d="100"/>
        </p:scale>
        <p:origin x="468" y="18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2" d="100"/>
          <a:sy n="82" d="100"/>
        </p:scale>
        <p:origin x="3852" y="78"/>
      </p:cViewPr>
      <p:guideLst/>
    </p:cSldViewPr>
  </p:notes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041DB8-B66F-4DC8-A96E-33677E0F90FF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04A0D4-B89B-4ADD-AF9E-38636B40EE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3891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B49C4A-65AC-492D-9701-81B46C3AD0E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869989-EB00-4EE7-BCB5-25BDC5BB2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636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6" name="Straight Connector 5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1" name="Straight Connector 40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" name="Group 4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2" name="Straight Connector 51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7" name="Straight Connector 46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oup 2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5" name="Straight Connector 2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0" name="Group 2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6" name="Straight Connector 35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1" name="Straight Connector 30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3845" y="1909346"/>
            <a:ext cx="9604310" cy="3383280"/>
          </a:xfrm>
        </p:spPr>
        <p:txBody>
          <a:bodyPr anchor="b">
            <a:normAutofit/>
          </a:bodyPr>
          <a:lstStyle>
            <a:lvl1pPr algn="l">
              <a:lnSpc>
                <a:spcPct val="76000"/>
              </a:lnSpc>
              <a:defRPr sz="8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3845" y="5432564"/>
            <a:ext cx="9604310" cy="4572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58" name="Straight Connector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295400"/>
            <a:ext cx="10972800" cy="472439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4B5B-21A0-4192-BF4C-38187F1A68D8}" type="datetime1">
              <a:rPr lang="en-US" smtClean="0"/>
              <a:t>10/9/2026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gradFill flip="none" rotWithShape="1">
          <a:gsLst>
            <a:gs pos="0">
              <a:schemeClr val="accent1"/>
            </a:gs>
            <a:gs pos="97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Straight Connector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Straight Connector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Group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Straight Connector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Straight Connector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Straight Connector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Straight Connector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Straight Connector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0" y="2541573"/>
            <a:ext cx="9601200" cy="2743200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6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5431536"/>
            <a:ext cx="9601200" cy="4572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58" name="Straight Connector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67780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5400" y="1981199"/>
            <a:ext cx="4572000" cy="3810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981199"/>
            <a:ext cx="4572000" cy="3810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CF7C-B333-48E1-A4A6-83A3C8B73AC0}" type="datetime1">
              <a:rPr lang="en-US" smtClean="0"/>
              <a:t>10/9/2026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1818322"/>
            <a:ext cx="4572000" cy="64135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2503713"/>
            <a:ext cx="4572000" cy="328748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4600" y="1818322"/>
            <a:ext cx="4572000" cy="64135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4600" y="2503713"/>
            <a:ext cx="4572000" cy="328748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20762-5CBF-4210-AB54-376B091119F8}" type="datetime1">
              <a:rPr lang="en-US" smtClean="0"/>
              <a:t>10/9/2026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B371-BF5F-4058-A212-1A908E4D2674}" type="datetime1">
              <a:rPr lang="en-US" smtClean="0"/>
              <a:t>10/9/2026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Group 160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62" name="Straight Connector 161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8" name="Group 177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96" name="Straight Connector 19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1" name="Group 20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207" name="Straight Connector 20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Straight Connector 20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Straight Connector 20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02" name="Straight Connector 20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Straight Connector 20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Straight Connector 20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Straight Connector 20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Straight Connector 20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9" name="Group 178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80" name="Straight Connector 179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5" name="Group 184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91" name="Straight Connector 190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6" name="Straight Connector 185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Connector 186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Straight Connector 187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Straight Connector 188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Straight Connector 189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3" name="Footer Placeholder 2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212" name="Date Placeholder 2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4083B-90AA-48CF-BAD5-00AA24D7F288}" type="datetime1">
              <a:rPr lang="en-US" smtClean="0"/>
              <a:t>10/9/2026</a:t>
            </a:fld>
            <a:endParaRPr lang="en-US"/>
          </a:p>
        </p:txBody>
      </p:sp>
      <p:sp>
        <p:nvSpPr>
          <p:cNvPr id="214" name="Slide Number Placeholder 2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0" name="Straight Connector 9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4" name="Straight Connector 43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Group 48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oup 26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8" name="Straight Connector 27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Rectangle 6"/>
          <p:cNvSpPr/>
          <p:nvPr userDrawn="1"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69000">
                <a:schemeClr val="bg1"/>
              </a:gs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3152" y="571500"/>
            <a:ext cx="3657600" cy="2197100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3197" y="571500"/>
            <a:ext cx="6217920" cy="5715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13152" y="2995012"/>
            <a:ext cx="3657600" cy="228595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7923089" y="2895600"/>
            <a:ext cx="365931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5BAF629-ECA2-4CF3-B790-9D9BDED98269}" type="datetime1">
              <a:rPr lang="en-US" smtClean="0"/>
              <a:pPr/>
              <a:t>10/9/2026</a:t>
            </a:fld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9" name="Straight Connector 8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/>
            <p:cNvGrpSpPr/>
            <p:nvPr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3" name="Straight Connector 42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Group 25"/>
            <p:cNvGrpSpPr/>
            <p:nvPr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7" name="Straight Connector 26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" name="Group 31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0" name="Rectangle 59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69000">
                <a:schemeClr val="bg1"/>
              </a:gs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Connector 58"/>
          <p:cNvCxnSpPr/>
          <p:nvPr/>
        </p:nvCxnSpPr>
        <p:spPr>
          <a:xfrm>
            <a:off x="7923089" y="2895600"/>
            <a:ext cx="365931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9560" y="576072"/>
            <a:ext cx="3657600" cy="2194560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412" y="-159"/>
            <a:ext cx="7315200" cy="685800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09560" y="2999232"/>
            <a:ext cx="3657600" cy="2286000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20318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A29A4-78C8-47AB-BA06-22CB45938951}" type="datetime1">
              <a:rPr lang="en-US" smtClean="0"/>
              <a:t>10/9/2026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09314" y="489856"/>
            <a:ext cx="1687286" cy="530134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9" y="489856"/>
            <a:ext cx="7587344" cy="5301343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D4ACF-2D82-46F2-A8E9-23963AA34E86}" type="datetime1">
              <a:rPr lang="en-US" smtClean="0"/>
              <a:t>10/9/2026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3000">
              <a:schemeClr val="bg1"/>
            </a:gs>
            <a:gs pos="0">
              <a:schemeClr val="bg1">
                <a:lumMod val="100000"/>
              </a:schemeClr>
            </a:gs>
            <a:gs pos="100000">
              <a:schemeClr val="bg1">
                <a:lumMod val="95000"/>
                <a:alpha val="65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/>
          <p:cNvGrpSpPr/>
          <p:nvPr userDrawn="1"/>
        </p:nvGrpSpPr>
        <p:grpSpPr bwMode="hidden">
          <a:xfrm>
            <a:off x="-1" y="-195943"/>
            <a:ext cx="12192002" cy="6858000"/>
            <a:chOff x="-1" y="0"/>
            <a:chExt cx="12192002" cy="6858000"/>
          </a:xfrm>
        </p:grpSpPr>
        <p:cxnSp>
          <p:nvCxnSpPr>
            <p:cNvPr id="97" name="Straight Connector 96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3" name="Group 11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31" name="Straight Connector 130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6" name="Group 13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42" name="Straight Connector 141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37" name="Straight Connector 136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Straight Connector 14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4" name="Group 11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15" name="Straight Connector 11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0" name="Group 11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26" name="Straight Connector 125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21" name="Straight Connector 120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0" y="503853"/>
            <a:ext cx="9601200" cy="114238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1981201"/>
            <a:ext cx="9601200" cy="3809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48" name="Straight Connector 147"/>
          <p:cNvCxnSpPr/>
          <p:nvPr userDrawn="1"/>
        </p:nvCxnSpPr>
        <p:spPr>
          <a:xfrm>
            <a:off x="609600" y="6172200"/>
            <a:ext cx="10972800" cy="0"/>
          </a:xfrm>
          <a:prstGeom prst="line">
            <a:avLst/>
          </a:prstGeom>
          <a:ln w="127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B51B2453-8663-4C69-AF73-9FD7B1DEC5D0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9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79388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18288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179388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179388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878012" indent="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learn.adafruit.com/adafruit-vl53l0x-micro-lidar-distance-sensor-breakout/python-circuitpython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1604" y="1737360"/>
            <a:ext cx="9907555" cy="3383280"/>
          </a:xfrm>
        </p:spPr>
        <p:txBody>
          <a:bodyPr>
            <a:normAutofit/>
          </a:bodyPr>
          <a:lstStyle/>
          <a:p>
            <a:r>
              <a:rPr lang="en-US" sz="6000" dirty="0"/>
              <a:t>EDES 301</a:t>
            </a:r>
            <a:br>
              <a:rPr lang="en-US" sz="6000" dirty="0"/>
            </a:br>
            <a:br>
              <a:rPr lang="en-US" dirty="0"/>
            </a:br>
            <a:r>
              <a:rPr lang="en-US" sz="6000" dirty="0"/>
              <a:t>Responsive Path Lighting Proposal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3845" y="5432564"/>
            <a:ext cx="9604310" cy="1120636"/>
          </a:xfrm>
        </p:spPr>
        <p:txBody>
          <a:bodyPr/>
          <a:lstStyle/>
          <a:p>
            <a:r>
              <a:rPr lang="en-US" dirty="0"/>
              <a:t>2026/09/30</a:t>
            </a:r>
          </a:p>
          <a:p>
            <a:r>
              <a:rPr lang="en-US" dirty="0"/>
              <a:t>Kathy Xu</a:t>
            </a:r>
          </a:p>
        </p:txBody>
      </p:sp>
    </p:spTree>
    <p:extLst>
      <p:ext uri="{BB962C8B-B14F-4D97-AF65-F5344CB8AC3E}">
        <p14:creationId xmlns:p14="http://schemas.microsoft.com/office/powerpoint/2010/main" val="106904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39A49-57C9-4BE3-8B38-E944EB819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8AE04-697D-4784-A672-E28DA6A47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As an architecture student, I am interested in how lighting can guide movement and shape spatial experience. Instead of treating circulation lighting as a static condition, this project explores how light can respond to both people moving through a path and changing environmental conditions, using brightness and color to create a more responsive outdoor space.</a:t>
            </a:r>
          </a:p>
          <a:p>
            <a:r>
              <a:rPr lang="en-US" dirty="0"/>
              <a:t>What is being proposed?</a:t>
            </a:r>
          </a:p>
          <a:p>
            <a:pPr lvl="1"/>
            <a:r>
              <a:rPr lang="en-US" dirty="0"/>
              <a:t>A responsive outdoor circulation lighting system that reacts to movement and environmental conditions.</a:t>
            </a:r>
          </a:p>
          <a:p>
            <a:pPr lvl="1"/>
            <a:r>
              <a:rPr lang="en-US" dirty="0"/>
              <a:t>Three VL53L0X distance sensors detect a user’s position and proximity along a path.</a:t>
            </a:r>
          </a:p>
          <a:p>
            <a:pPr lvl="1"/>
            <a:r>
              <a:rPr lang="en-US" dirty="0"/>
              <a:t>Each sensor controls a corresponding lighting zone.</a:t>
            </a:r>
          </a:p>
          <a:p>
            <a:pPr lvl="1"/>
            <a:r>
              <a:rPr lang="en-US" dirty="0"/>
              <a:t>Lights intensity changes according to the user’s distance from each zone.</a:t>
            </a:r>
          </a:p>
          <a:p>
            <a:pPr lvl="1"/>
            <a:r>
              <a:rPr lang="en-US" dirty="0"/>
              <a:t>Temperature data influence the color of the lighting.</a:t>
            </a:r>
          </a:p>
          <a:p>
            <a:pPr lvl="1"/>
            <a:r>
              <a:rPr lang="en-US" dirty="0"/>
              <a:t>Surrounding light data adjusts the baseline lighting level.</a:t>
            </a:r>
          </a:p>
        </p:txBody>
      </p:sp>
    </p:spTree>
    <p:extLst>
      <p:ext uri="{BB962C8B-B14F-4D97-AF65-F5344CB8AC3E}">
        <p14:creationId xmlns:p14="http://schemas.microsoft.com/office/powerpoint/2010/main" val="3519531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1A86D-EE3B-D3A6-60AE-458549DC1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FDB1A-704C-6849-271B-0AC37BD29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Information</a:t>
            </a:r>
          </a:p>
        </p:txBody>
      </p:sp>
      <p:pic>
        <p:nvPicPr>
          <p:cNvPr id="6" name="Picture 5" descr="Foco empotrable marcador de paso con luz LED y sensor de movimiento PIR potencia regulable 4W 2W para escaleras pasillo Redondo Blanco 230V | Leroy Merlin">
            <a:extLst>
              <a:ext uri="{FF2B5EF4-FFF2-40B4-BE49-F238E27FC236}">
                <a16:creationId xmlns:a16="http://schemas.microsoft.com/office/drawing/2014/main" id="{C0B91B5F-0A06-902A-BB24-00E39EB54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982" y="455682"/>
            <a:ext cx="5291418" cy="5291418"/>
          </a:xfrm>
          <a:prstGeom prst="rect">
            <a:avLst/>
          </a:prstGeom>
        </p:spPr>
      </p:pic>
      <p:pic>
        <p:nvPicPr>
          <p:cNvPr id="7" name="Picture 6" descr="Rice's new 'forward-thinking' art installation highlights climate change  through voices of activists, scholars and scientists | Rice News | News and  Media Relations | Rice University">
            <a:extLst>
              <a:ext uri="{FF2B5EF4-FFF2-40B4-BE49-F238E27FC236}">
                <a16:creationId xmlns:a16="http://schemas.microsoft.com/office/drawing/2014/main" id="{0AA79A8F-FA70-5130-4E0E-C6B89A702B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47" y="2171700"/>
            <a:ext cx="5277972" cy="357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563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D68D6-C47E-1EE1-BC7C-0B5340B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FA01C-23C7-3A9E-7FF5-3C3BD035A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798E4-2A6C-C571-F49C-D6E6E7FA2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improvements / additions over existing project</a:t>
            </a:r>
          </a:p>
          <a:p>
            <a:pPr lvl="1"/>
            <a:r>
              <a:rPr lang="en-US" dirty="0"/>
              <a:t>Link: </a:t>
            </a:r>
            <a:r>
              <a:rPr lang="en-US" dirty="0">
                <a:hlinkClick r:id="rId2"/>
              </a:rPr>
              <a:t>https://learn.adafruit.com/adafruit-vl53l0x-micro-lidar-distance-sensor-breakout/python-circuitpython</a:t>
            </a:r>
            <a:endParaRPr lang="en-US" dirty="0"/>
          </a:p>
          <a:p>
            <a:pPr lvl="1"/>
            <a:r>
              <a:rPr lang="en-US" dirty="0"/>
              <a:t>Expands from basic distance-sensor reading to three sensing zones along an outdoor circulation path.</a:t>
            </a:r>
          </a:p>
          <a:p>
            <a:pPr lvl="1"/>
            <a:r>
              <a:rPr lang="en-US" dirty="0"/>
              <a:t>Uses distance measurements to control lighting intensity, rather than only displaying or printing distance values.</a:t>
            </a:r>
          </a:p>
          <a:p>
            <a:pPr lvl="1"/>
            <a:r>
              <a:rPr lang="en-US" dirty="0"/>
              <a:t>Adds temperature as a second environmental input that controls lighting color.</a:t>
            </a:r>
          </a:p>
          <a:p>
            <a:pPr lvl="1"/>
            <a:r>
              <a:rPr lang="en-US" dirty="0"/>
              <a:t>Adds light sensitivity to modify the overall lighting mode or brightness.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E1FB5F-BE9C-C735-F833-57CE84340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4314" y="4152900"/>
            <a:ext cx="2692397" cy="201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649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4E315-070F-5DCF-4DF9-CBE20307C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C5F6A-AC17-FAF4-F446-4EC1E6C64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Block Diagram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2BFC74-CEC6-F18E-465B-3ED87BA55DFA}"/>
              </a:ext>
            </a:extLst>
          </p:cNvPr>
          <p:cNvSpPr txBox="1"/>
          <p:nvPr/>
        </p:nvSpPr>
        <p:spPr>
          <a:xfrm>
            <a:off x="682001" y="1778955"/>
            <a:ext cx="1143000" cy="600164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VL53L0X</a:t>
            </a:r>
          </a:p>
          <a:p>
            <a:pPr algn="ctr"/>
            <a:r>
              <a:rPr lang="en-CA" sz="1100" dirty="0"/>
              <a:t>Sensor 1</a:t>
            </a:r>
          </a:p>
          <a:p>
            <a:pPr algn="ctr"/>
            <a:r>
              <a:rPr lang="en-CA" sz="1100" dirty="0"/>
              <a:t>Zone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C1FAA4-95DE-5BCE-5E40-7B15F3CA2A20}"/>
              </a:ext>
            </a:extLst>
          </p:cNvPr>
          <p:cNvSpPr txBox="1"/>
          <p:nvPr/>
        </p:nvSpPr>
        <p:spPr>
          <a:xfrm>
            <a:off x="673036" y="2655255"/>
            <a:ext cx="1143000" cy="600164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VL53L0X</a:t>
            </a:r>
          </a:p>
          <a:p>
            <a:pPr algn="ctr"/>
            <a:r>
              <a:rPr lang="en-CA" sz="1100" dirty="0"/>
              <a:t>Sensor 2</a:t>
            </a:r>
          </a:p>
          <a:p>
            <a:pPr algn="ctr"/>
            <a:r>
              <a:rPr lang="en-CA" sz="1100" dirty="0"/>
              <a:t>Zone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664BD4-F0B6-C8C9-21C9-FF0B2163406C}"/>
              </a:ext>
            </a:extLst>
          </p:cNvPr>
          <p:cNvSpPr txBox="1"/>
          <p:nvPr/>
        </p:nvSpPr>
        <p:spPr>
          <a:xfrm>
            <a:off x="673036" y="3531555"/>
            <a:ext cx="1143000" cy="600164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VL53L0X</a:t>
            </a:r>
          </a:p>
          <a:p>
            <a:pPr algn="ctr"/>
            <a:r>
              <a:rPr lang="en-CA" sz="1100" dirty="0"/>
              <a:t>Sensor 3</a:t>
            </a:r>
          </a:p>
          <a:p>
            <a:pPr algn="ctr"/>
            <a:r>
              <a:rPr lang="en-CA" sz="1100" dirty="0"/>
              <a:t>Zone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B96677-DE5E-835E-3735-8627A905B14D}"/>
              </a:ext>
            </a:extLst>
          </p:cNvPr>
          <p:cNvSpPr txBox="1"/>
          <p:nvPr/>
        </p:nvSpPr>
        <p:spPr>
          <a:xfrm>
            <a:off x="3146250" y="2508198"/>
            <a:ext cx="1609526" cy="1785104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PocketBeagle</a:t>
            </a:r>
          </a:p>
          <a:p>
            <a:pPr algn="ctr"/>
            <a:endParaRPr lang="en-CA" sz="1100" dirty="0"/>
          </a:p>
          <a:p>
            <a:pPr algn="ctr"/>
            <a:r>
              <a:rPr lang="en-CA" sz="1100" dirty="0"/>
              <a:t>Python Program</a:t>
            </a:r>
          </a:p>
          <a:p>
            <a:pPr algn="ctr"/>
            <a:endParaRPr lang="en-CA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CA" sz="1100" dirty="0"/>
              <a:t>Read distance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CA" sz="1100" dirty="0"/>
              <a:t>Read Temperature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CA" sz="1100" dirty="0"/>
              <a:t>Identify zone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CA" sz="1100" dirty="0"/>
              <a:t>Set Brightness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CA" sz="1100" dirty="0"/>
              <a:t>Set color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CA" sz="1100" dirty="0"/>
              <a:t>Fade/timing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EB62EC-9251-1022-E859-3FA55D864507}"/>
              </a:ext>
            </a:extLst>
          </p:cNvPr>
          <p:cNvSpPr txBox="1"/>
          <p:nvPr/>
        </p:nvSpPr>
        <p:spPr>
          <a:xfrm>
            <a:off x="6104447" y="3100668"/>
            <a:ext cx="1524000" cy="600164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Level Shifter</a:t>
            </a:r>
          </a:p>
          <a:p>
            <a:pPr algn="ctr"/>
            <a:endParaRPr lang="en-CA" sz="1100" dirty="0"/>
          </a:p>
          <a:p>
            <a:pPr algn="ctr"/>
            <a:r>
              <a:rPr lang="en-CA" sz="1100" dirty="0"/>
              <a:t>(3.3V </a:t>
            </a:r>
            <a:r>
              <a:rPr lang="en-CA" sz="1100" dirty="0">
                <a:sym typeface="Wingdings" panose="05000000000000000000" pitchFamily="2" charset="2"/>
              </a:rPr>
              <a:t> 5V data)</a:t>
            </a:r>
            <a:endParaRPr lang="en-CA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F6C812-FF68-A56C-C082-5DC1FE71034E}"/>
              </a:ext>
            </a:extLst>
          </p:cNvPr>
          <p:cNvSpPr txBox="1"/>
          <p:nvPr/>
        </p:nvSpPr>
        <p:spPr>
          <a:xfrm>
            <a:off x="10343029" y="2224368"/>
            <a:ext cx="1143000" cy="600164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WS2812B LED</a:t>
            </a:r>
          </a:p>
          <a:p>
            <a:pPr algn="ctr"/>
            <a:r>
              <a:rPr lang="en-CA" sz="1100" dirty="0"/>
              <a:t>Strip 1</a:t>
            </a:r>
          </a:p>
          <a:p>
            <a:pPr algn="ctr"/>
            <a:r>
              <a:rPr lang="en-CA" sz="1100" dirty="0"/>
              <a:t>Zone 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2E785D-AE62-2DB3-C2FC-C93F9F3A74ED}"/>
              </a:ext>
            </a:extLst>
          </p:cNvPr>
          <p:cNvSpPr txBox="1"/>
          <p:nvPr/>
        </p:nvSpPr>
        <p:spPr>
          <a:xfrm>
            <a:off x="10334064" y="3100668"/>
            <a:ext cx="1143000" cy="600164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WS2812B LED</a:t>
            </a:r>
          </a:p>
          <a:p>
            <a:pPr algn="ctr"/>
            <a:r>
              <a:rPr lang="en-CA" sz="1100" dirty="0"/>
              <a:t>Strip 2</a:t>
            </a:r>
          </a:p>
          <a:p>
            <a:pPr algn="ctr"/>
            <a:r>
              <a:rPr lang="en-CA" sz="1100" dirty="0"/>
              <a:t>Zone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0A912B-7F70-655A-792E-8DCC626594BA}"/>
              </a:ext>
            </a:extLst>
          </p:cNvPr>
          <p:cNvSpPr txBox="1"/>
          <p:nvPr/>
        </p:nvSpPr>
        <p:spPr>
          <a:xfrm>
            <a:off x="10334064" y="3976968"/>
            <a:ext cx="1143000" cy="600164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WS2812B LED</a:t>
            </a:r>
          </a:p>
          <a:p>
            <a:pPr algn="ctr"/>
            <a:r>
              <a:rPr lang="en-CA" sz="1100" dirty="0"/>
              <a:t>Strip 3</a:t>
            </a:r>
          </a:p>
          <a:p>
            <a:pPr algn="ctr"/>
            <a:r>
              <a:rPr lang="en-CA" sz="1100" dirty="0"/>
              <a:t>Zone 3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2C0799BE-DFB9-E05A-772B-05C05C076CB4}"/>
              </a:ext>
            </a:extLst>
          </p:cNvPr>
          <p:cNvCxnSpPr>
            <a:cxnSpLocks/>
            <a:stCxn id="7" idx="3"/>
            <a:endCxn id="15" idx="1"/>
          </p:cNvCxnSpPr>
          <p:nvPr/>
        </p:nvCxnSpPr>
        <p:spPr>
          <a:xfrm>
            <a:off x="1825001" y="2079037"/>
            <a:ext cx="1321249" cy="132171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CC277AD4-7ED0-51F1-878A-0E02E4B63F00}"/>
              </a:ext>
            </a:extLst>
          </p:cNvPr>
          <p:cNvCxnSpPr>
            <a:cxnSpLocks/>
            <a:stCxn id="9" idx="3"/>
            <a:endCxn id="15" idx="1"/>
          </p:cNvCxnSpPr>
          <p:nvPr/>
        </p:nvCxnSpPr>
        <p:spPr>
          <a:xfrm>
            <a:off x="1816036" y="2955337"/>
            <a:ext cx="1330214" cy="44541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5C513491-1AE6-7A3B-B302-02E28919002D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 flipV="1">
            <a:off x="1816036" y="3400750"/>
            <a:ext cx="1330214" cy="43088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921E52A-3011-13DF-AA3E-46A423D3B1F0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4755776" y="3400750"/>
            <a:ext cx="13486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62EEAB98-1BAF-3015-4636-0EF3AEF17132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7628447" y="2524450"/>
            <a:ext cx="2714582" cy="8763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5D9F0D10-D120-0E29-0597-093EB952A38F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7628447" y="3400750"/>
            <a:ext cx="2705617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06C01A10-24CE-4690-C67D-0578AACE9BFC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7628447" y="3400750"/>
            <a:ext cx="2705617" cy="8763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F57C387-DF4E-921C-C0E8-66F5F6EAC13C}"/>
              </a:ext>
            </a:extLst>
          </p:cNvPr>
          <p:cNvSpPr txBox="1"/>
          <p:nvPr/>
        </p:nvSpPr>
        <p:spPr>
          <a:xfrm>
            <a:off x="1995247" y="1817427"/>
            <a:ext cx="4042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100" dirty="0"/>
              <a:t>I2C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F5D3EFB-FC06-DE2C-4EAA-CC9C6848522B}"/>
              </a:ext>
            </a:extLst>
          </p:cNvPr>
          <p:cNvSpPr txBox="1"/>
          <p:nvPr/>
        </p:nvSpPr>
        <p:spPr>
          <a:xfrm>
            <a:off x="1995247" y="2693727"/>
            <a:ext cx="4042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100" dirty="0"/>
              <a:t>I2C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369C499-423B-15A4-9AFA-034C27805B95}"/>
              </a:ext>
            </a:extLst>
          </p:cNvPr>
          <p:cNvSpPr txBox="1"/>
          <p:nvPr/>
        </p:nvSpPr>
        <p:spPr>
          <a:xfrm>
            <a:off x="1995247" y="3570027"/>
            <a:ext cx="4042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100" dirty="0"/>
              <a:t>I2C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F23DC79-6AB9-2D98-CD4B-14E1B86C39F7}"/>
              </a:ext>
            </a:extLst>
          </p:cNvPr>
          <p:cNvSpPr txBox="1"/>
          <p:nvPr/>
        </p:nvSpPr>
        <p:spPr>
          <a:xfrm>
            <a:off x="4753535" y="3139140"/>
            <a:ext cx="13340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100" dirty="0"/>
              <a:t>GPIO / digital data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D5054E7-AC31-835C-6809-0214BC505435}"/>
              </a:ext>
            </a:extLst>
          </p:cNvPr>
          <p:cNvSpPr txBox="1"/>
          <p:nvPr/>
        </p:nvSpPr>
        <p:spPr>
          <a:xfrm>
            <a:off x="7626206" y="3139279"/>
            <a:ext cx="13933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100" dirty="0"/>
              <a:t>WS2812B data 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56DEF2-81E5-9B6F-A090-F78C932056A1}"/>
              </a:ext>
            </a:extLst>
          </p:cNvPr>
          <p:cNvSpPr txBox="1"/>
          <p:nvPr/>
        </p:nvSpPr>
        <p:spPr>
          <a:xfrm>
            <a:off x="673036" y="4482117"/>
            <a:ext cx="1151966" cy="430887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Temp/Humidity Sensor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9FDE7369-E454-B6F6-B44B-B07A0CA52D0E}"/>
              </a:ext>
            </a:extLst>
          </p:cNvPr>
          <p:cNvCxnSpPr>
            <a:cxnSpLocks/>
            <a:stCxn id="20" idx="3"/>
            <a:endCxn id="15" idx="1"/>
          </p:cNvCxnSpPr>
          <p:nvPr/>
        </p:nvCxnSpPr>
        <p:spPr>
          <a:xfrm flipV="1">
            <a:off x="1825002" y="3400750"/>
            <a:ext cx="1321248" cy="1296811"/>
          </a:xfrm>
          <a:prstGeom prst="bentConnector3">
            <a:avLst>
              <a:gd name="adj1" fmla="val 7370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F17699F-1A37-930D-8ED6-6C36F9C7D7EE}"/>
              </a:ext>
            </a:extLst>
          </p:cNvPr>
          <p:cNvSpPr txBox="1"/>
          <p:nvPr/>
        </p:nvSpPr>
        <p:spPr>
          <a:xfrm>
            <a:off x="2362200" y="4446327"/>
            <a:ext cx="4042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100" dirty="0"/>
              <a:t>I2C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4622B7-44B0-5A5F-3A6A-034882B4BC61}"/>
              </a:ext>
            </a:extLst>
          </p:cNvPr>
          <p:cNvSpPr txBox="1"/>
          <p:nvPr/>
        </p:nvSpPr>
        <p:spPr>
          <a:xfrm>
            <a:off x="668553" y="5239721"/>
            <a:ext cx="1151966" cy="430887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BH1750</a:t>
            </a:r>
          </a:p>
          <a:p>
            <a:pPr algn="ctr"/>
            <a:r>
              <a:rPr lang="en-CA" sz="1100" dirty="0"/>
              <a:t>Light Sensor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3922A07-F838-B421-2C51-8272F5CFAB33}"/>
              </a:ext>
            </a:extLst>
          </p:cNvPr>
          <p:cNvCxnSpPr>
            <a:cxnSpLocks/>
            <a:stCxn id="5" idx="3"/>
            <a:endCxn id="15" idx="1"/>
          </p:cNvCxnSpPr>
          <p:nvPr/>
        </p:nvCxnSpPr>
        <p:spPr>
          <a:xfrm flipV="1">
            <a:off x="1820519" y="3400750"/>
            <a:ext cx="1325731" cy="2054415"/>
          </a:xfrm>
          <a:prstGeom prst="bentConnector3">
            <a:avLst>
              <a:gd name="adj1" fmla="val 736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7BCD3F1-634A-4CD7-3354-DBF3EF61F216}"/>
              </a:ext>
            </a:extLst>
          </p:cNvPr>
          <p:cNvSpPr txBox="1"/>
          <p:nvPr/>
        </p:nvSpPr>
        <p:spPr>
          <a:xfrm>
            <a:off x="2366436" y="5193554"/>
            <a:ext cx="4042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100" dirty="0"/>
              <a:t>I2C</a:t>
            </a:r>
          </a:p>
        </p:txBody>
      </p:sp>
    </p:spTree>
    <p:extLst>
      <p:ext uri="{BB962C8B-B14F-4D97-AF65-F5344CB8AC3E}">
        <p14:creationId xmlns:p14="http://schemas.microsoft.com/office/powerpoint/2010/main" val="3177237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A22CC-CB04-4CE5-CAC5-402D0F09C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BEE50-486D-8AFC-36A0-5D0ADF809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Block Diagram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5E4405-AD86-4D81-2DEC-B8E0F9C6BC47}"/>
              </a:ext>
            </a:extLst>
          </p:cNvPr>
          <p:cNvSpPr txBox="1"/>
          <p:nvPr/>
        </p:nvSpPr>
        <p:spPr>
          <a:xfrm>
            <a:off x="4469708" y="1409700"/>
            <a:ext cx="1295400" cy="261610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5V USB Power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4D9FA0-BD44-AC81-55C9-AD8C9416EF24}"/>
              </a:ext>
            </a:extLst>
          </p:cNvPr>
          <p:cNvSpPr txBox="1"/>
          <p:nvPr/>
        </p:nvSpPr>
        <p:spPr>
          <a:xfrm>
            <a:off x="2987492" y="2431163"/>
            <a:ext cx="1295400" cy="430887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PocketBeagle</a:t>
            </a:r>
          </a:p>
          <a:p>
            <a:pPr algn="ctr"/>
            <a:r>
              <a:rPr lang="en-CA" sz="1100" dirty="0"/>
              <a:t>5V 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495BBF-6DB5-9248-3035-A1338449E867}"/>
              </a:ext>
            </a:extLst>
          </p:cNvPr>
          <p:cNvSpPr txBox="1"/>
          <p:nvPr/>
        </p:nvSpPr>
        <p:spPr>
          <a:xfrm>
            <a:off x="2987492" y="3049656"/>
            <a:ext cx="1295400" cy="261610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3.3V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D604C2-DBDF-3BF3-0E46-74BD2F116306}"/>
              </a:ext>
            </a:extLst>
          </p:cNvPr>
          <p:cNvSpPr txBox="1"/>
          <p:nvPr/>
        </p:nvSpPr>
        <p:spPr>
          <a:xfrm>
            <a:off x="746174" y="4130069"/>
            <a:ext cx="1295400" cy="769441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VL53L0X ×3</a:t>
            </a:r>
          </a:p>
          <a:p>
            <a:pPr algn="ctr"/>
            <a:r>
              <a:rPr lang="en-CA" sz="1100" dirty="0"/>
              <a:t>Distance Sensors</a:t>
            </a:r>
          </a:p>
          <a:p>
            <a:pPr algn="ctr"/>
            <a:endParaRPr lang="en-CA" sz="1100" dirty="0"/>
          </a:p>
          <a:p>
            <a:pPr algn="ctr"/>
            <a:r>
              <a:rPr lang="en-CA" sz="1100" dirty="0"/>
              <a:t>3.3V Supply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CFC9EB-A0F4-C1FE-F000-0D768A8C6B06}"/>
              </a:ext>
            </a:extLst>
          </p:cNvPr>
          <p:cNvSpPr txBox="1"/>
          <p:nvPr/>
        </p:nvSpPr>
        <p:spPr>
          <a:xfrm>
            <a:off x="6286500" y="2425721"/>
            <a:ext cx="1295400" cy="769441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WS2812B ×4</a:t>
            </a:r>
          </a:p>
          <a:p>
            <a:pPr algn="ctr"/>
            <a:r>
              <a:rPr lang="en-CA" sz="1100" dirty="0"/>
              <a:t>LED Strips</a:t>
            </a:r>
          </a:p>
          <a:p>
            <a:pPr algn="ctr"/>
            <a:endParaRPr lang="en-CA" sz="1100" dirty="0"/>
          </a:p>
          <a:p>
            <a:pPr algn="ctr"/>
            <a:r>
              <a:rPr lang="en-CA" sz="1100" dirty="0"/>
              <a:t>5V Supply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008BDD-0D2A-10EE-592D-835865041656}"/>
              </a:ext>
            </a:extLst>
          </p:cNvPr>
          <p:cNvSpPr txBox="1"/>
          <p:nvPr/>
        </p:nvSpPr>
        <p:spPr>
          <a:xfrm>
            <a:off x="5197290" y="4130069"/>
            <a:ext cx="1295400" cy="769441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Level Shifter</a:t>
            </a:r>
          </a:p>
          <a:p>
            <a:pPr algn="ctr"/>
            <a:r>
              <a:rPr lang="en-CA" sz="1100" dirty="0"/>
              <a:t>Logic Side</a:t>
            </a:r>
          </a:p>
          <a:p>
            <a:pPr algn="ctr"/>
            <a:endParaRPr lang="en-CA" sz="1100" dirty="0"/>
          </a:p>
          <a:p>
            <a:pPr algn="ctr"/>
            <a:r>
              <a:rPr lang="en-CA" sz="1100" dirty="0"/>
              <a:t>LV = 3.3V</a:t>
            </a: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A894C07-DE93-63E6-5994-FBF11DB44EE5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5400000">
            <a:off x="2105132" y="2600008"/>
            <a:ext cx="818803" cy="224131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BD3B0E99-E213-6A39-A749-BB8D9C49962C}"/>
              </a:ext>
            </a:extLst>
          </p:cNvPr>
          <p:cNvCxnSpPr>
            <a:cxnSpLocks/>
            <a:stCxn id="18" idx="2"/>
          </p:cNvCxnSpPr>
          <p:nvPr/>
        </p:nvCxnSpPr>
        <p:spPr>
          <a:xfrm rot="16200000" flipH="1">
            <a:off x="2004954" y="4288430"/>
            <a:ext cx="564059" cy="17862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D47CE0A-25BC-2C0F-0CF2-9612D28E71AC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>
            <a:off x="4225037" y="3843615"/>
            <a:ext cx="564059" cy="26758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73B71299-78F8-C3B1-F271-589CCFCBB1E1}"/>
              </a:ext>
            </a:extLst>
          </p:cNvPr>
          <p:cNvSpPr txBox="1"/>
          <p:nvPr/>
        </p:nvSpPr>
        <p:spPr>
          <a:xfrm>
            <a:off x="4462426" y="5538145"/>
            <a:ext cx="123463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100" dirty="0"/>
              <a:t>Common ground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43534E98-BAC0-2D22-9A4D-4196A3EC7CD3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5400000">
            <a:off x="3996374" y="1310128"/>
            <a:ext cx="759853" cy="148221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533D08B2-22C4-5FBF-FB07-9E97F4DAADC7}"/>
              </a:ext>
            </a:extLst>
          </p:cNvPr>
          <p:cNvCxnSpPr>
            <a:cxnSpLocks/>
            <a:stCxn id="8" idx="2"/>
            <a:endCxn id="20" idx="0"/>
          </p:cNvCxnSpPr>
          <p:nvPr/>
        </p:nvCxnSpPr>
        <p:spPr>
          <a:xfrm rot="16200000" flipH="1">
            <a:off x="5648599" y="1140119"/>
            <a:ext cx="754411" cy="181679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A09A8C4-FFAF-D98F-BEA0-AB6D108B870C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3635192" y="2862050"/>
            <a:ext cx="0" cy="1876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DD9FCCC-6A40-17DD-10BA-A6C7840A595A}"/>
              </a:ext>
            </a:extLst>
          </p:cNvPr>
          <p:cNvSpPr txBox="1"/>
          <p:nvPr/>
        </p:nvSpPr>
        <p:spPr>
          <a:xfrm>
            <a:off x="2165209" y="4136373"/>
            <a:ext cx="1501587" cy="769441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AHT10</a:t>
            </a:r>
          </a:p>
          <a:p>
            <a:pPr algn="ctr"/>
            <a:r>
              <a:rPr lang="en-CA" sz="1100" dirty="0"/>
              <a:t>Temp/Hum. Sensor</a:t>
            </a:r>
          </a:p>
          <a:p>
            <a:pPr algn="ctr"/>
            <a:endParaRPr lang="en-CA" sz="1100" dirty="0"/>
          </a:p>
          <a:p>
            <a:pPr algn="ctr"/>
            <a:r>
              <a:rPr lang="en-CA" sz="1100" dirty="0"/>
              <a:t>3.3V Supply</a:t>
            </a:r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815838AF-8164-38DE-1BF7-5A80C6BF545E}"/>
              </a:ext>
            </a:extLst>
          </p:cNvPr>
          <p:cNvCxnSpPr>
            <a:cxnSpLocks/>
            <a:stCxn id="12" idx="2"/>
            <a:endCxn id="22" idx="0"/>
          </p:cNvCxnSpPr>
          <p:nvPr/>
        </p:nvCxnSpPr>
        <p:spPr>
          <a:xfrm rot="16200000" flipH="1">
            <a:off x="4330690" y="2615768"/>
            <a:ext cx="818803" cy="220979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84C5C02-1ED2-7920-2085-278EC36B572E}"/>
              </a:ext>
            </a:extLst>
          </p:cNvPr>
          <p:cNvSpPr txBox="1"/>
          <p:nvPr/>
        </p:nvSpPr>
        <p:spPr>
          <a:xfrm>
            <a:off x="8097370" y="2425721"/>
            <a:ext cx="1295400" cy="769441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Level Shifter</a:t>
            </a:r>
          </a:p>
          <a:p>
            <a:pPr algn="ctr"/>
            <a:r>
              <a:rPr lang="en-CA" sz="1100" dirty="0"/>
              <a:t>Logic Side</a:t>
            </a:r>
          </a:p>
          <a:p>
            <a:pPr algn="ctr"/>
            <a:endParaRPr lang="en-CA" sz="1100" dirty="0"/>
          </a:p>
          <a:p>
            <a:pPr algn="ctr"/>
            <a:r>
              <a:rPr lang="en-CA" sz="1100" dirty="0"/>
              <a:t>HV = 5V</a:t>
            </a:r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DCB95643-D178-9B4B-94BE-B7B3FD05518A}"/>
              </a:ext>
            </a:extLst>
          </p:cNvPr>
          <p:cNvCxnSpPr>
            <a:cxnSpLocks/>
            <a:stCxn id="8" idx="2"/>
            <a:endCxn id="69" idx="0"/>
          </p:cNvCxnSpPr>
          <p:nvPr/>
        </p:nvCxnSpPr>
        <p:spPr>
          <a:xfrm rot="16200000" flipH="1">
            <a:off x="6554034" y="234684"/>
            <a:ext cx="754411" cy="362766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A9FEAD9E-90DA-EFBB-0A5D-572C5AF8B276}"/>
              </a:ext>
            </a:extLst>
          </p:cNvPr>
          <p:cNvCxnSpPr>
            <a:cxnSpLocks/>
            <a:stCxn id="20" idx="2"/>
          </p:cNvCxnSpPr>
          <p:nvPr/>
        </p:nvCxnSpPr>
        <p:spPr>
          <a:xfrm rot="5400000">
            <a:off x="4561749" y="3091117"/>
            <a:ext cx="2268407" cy="24764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E320EFB6-F927-70A3-0C33-D46F8159F3EE}"/>
              </a:ext>
            </a:extLst>
          </p:cNvPr>
          <p:cNvCxnSpPr>
            <a:cxnSpLocks/>
            <a:stCxn id="69" idx="2"/>
          </p:cNvCxnSpPr>
          <p:nvPr/>
        </p:nvCxnSpPr>
        <p:spPr>
          <a:xfrm rot="5400000">
            <a:off x="6160827" y="2879325"/>
            <a:ext cx="2268407" cy="290008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263F271-1607-D895-7A03-B89821A527D3}"/>
              </a:ext>
            </a:extLst>
          </p:cNvPr>
          <p:cNvSpPr txBox="1"/>
          <p:nvPr/>
        </p:nvSpPr>
        <p:spPr>
          <a:xfrm>
            <a:off x="3784343" y="4126916"/>
            <a:ext cx="1295400" cy="769441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1100" dirty="0"/>
              <a:t>BH1750</a:t>
            </a:r>
          </a:p>
          <a:p>
            <a:pPr algn="ctr"/>
            <a:r>
              <a:rPr lang="en-CA" sz="1100" dirty="0"/>
              <a:t>Light Sensor</a:t>
            </a:r>
          </a:p>
          <a:p>
            <a:pPr algn="ctr"/>
            <a:endParaRPr lang="en-CA" sz="1100" dirty="0"/>
          </a:p>
          <a:p>
            <a:pPr algn="ctr"/>
            <a:r>
              <a:rPr lang="en-CA" sz="1100" dirty="0"/>
              <a:t>3.3V Supply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6BB888A2-5BB3-D8D1-D4AB-DA2B1B5182DE}"/>
              </a:ext>
            </a:extLst>
          </p:cNvPr>
          <p:cNvCxnSpPr>
            <a:cxnSpLocks/>
            <a:stCxn id="12" idx="2"/>
            <a:endCxn id="50" idx="0"/>
          </p:cNvCxnSpPr>
          <p:nvPr/>
        </p:nvCxnSpPr>
        <p:spPr>
          <a:xfrm rot="5400000">
            <a:off x="2863045" y="3364225"/>
            <a:ext cx="825107" cy="71918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98BDBF7-3A2B-1724-5A8A-DEE649B133BE}"/>
              </a:ext>
            </a:extLst>
          </p:cNvPr>
          <p:cNvCxnSpPr>
            <a:cxnSpLocks/>
            <a:stCxn id="12" idx="2"/>
            <a:endCxn id="7" idx="0"/>
          </p:cNvCxnSpPr>
          <p:nvPr/>
        </p:nvCxnSpPr>
        <p:spPr>
          <a:xfrm rot="16200000" flipH="1">
            <a:off x="3625792" y="3320665"/>
            <a:ext cx="815650" cy="7968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E14266C-980D-3BD4-530A-41C5DF157F83}"/>
              </a:ext>
            </a:extLst>
          </p:cNvPr>
          <p:cNvCxnSpPr>
            <a:cxnSpLocks/>
            <a:stCxn id="50" idx="2"/>
          </p:cNvCxnSpPr>
          <p:nvPr/>
        </p:nvCxnSpPr>
        <p:spPr>
          <a:xfrm flipH="1">
            <a:off x="2916002" y="4905814"/>
            <a:ext cx="1" cy="5577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C0B2E5-BB95-7F91-6563-7EEF31A86D0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4432043" y="4896357"/>
            <a:ext cx="0" cy="567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3082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1467B-51C2-4E0B-B52A-83BD9F0E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/ Budget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0B47F4B-CB02-4D02-BE84-F6BC57D0FE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8477319"/>
              </p:ext>
            </p:extLst>
          </p:nvPr>
        </p:nvGraphicFramePr>
        <p:xfrm>
          <a:off x="609600" y="1295400"/>
          <a:ext cx="10972800" cy="39776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837714">
                  <a:extLst>
                    <a:ext uri="{9D8B030D-6E8A-4147-A177-3AD203B41FA5}">
                      <a16:colId xmlns:a16="http://schemas.microsoft.com/office/drawing/2014/main" val="3675253430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1372058784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3565830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EDES301</a:t>
                      </a:r>
                    </a:p>
                    <a:p>
                      <a:pPr algn="ctr"/>
                      <a:r>
                        <a:rPr lang="en-US" dirty="0"/>
                        <a:t> to Buy?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6800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VL53L0X Distance Sensors (3)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$8.99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13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/>
                        <a:t>BH1750 </a:t>
                      </a:r>
                      <a:r>
                        <a:rPr lang="en-US" altLang="zh-CN" dirty="0"/>
                        <a:t>Light</a:t>
                      </a:r>
                      <a:r>
                        <a:rPr lang="en-CA" altLang="zh-CN" dirty="0"/>
                        <a:t> Sensor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$2.50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7551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AHT10 Temp/Humidity Sensor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88082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/>
                        <a:t>Bidirectional level shifters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126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BTF-LIGHTING WS2812B IC PC Light Strip (3)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$13.49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7493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/>
                        <a:t>PocketBeagle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no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provided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2840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/>
                        <a:t>Breadboard / Jumper Wires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provided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356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/>
                        <a:t>USB Power Supply / Cable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provided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4489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$28.28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708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1248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iamond Grid 16x9">
  <a:themeElements>
    <a:clrScheme name="Custom 3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000000"/>
      </a:hlink>
      <a:folHlink>
        <a:srgbClr val="9F6715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siness diamond grid presentation (widescreen).potx" id="{B2221865-AD13-4DF0-B68E-BF08E8CC5659}" vid="{BAA0C488-98B6-4F47-8E1C-5C7CD9605F73}"/>
    </a:ext>
  </a:extLst>
</a:theme>
</file>

<file path=ppt/theme/theme2.xml><?xml version="1.0" encoding="utf-8"?>
<a:theme xmlns:a="http://schemas.openxmlformats.org/drawingml/2006/main" name="Office Them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diamond grid presentation (widescreen)</Template>
  <TotalTime>8737</TotalTime>
  <Words>426</Words>
  <Application>Microsoft Office PowerPoint</Application>
  <PresentationFormat>Widescreen</PresentationFormat>
  <Paragraphs>123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Wingdings</vt:lpstr>
      <vt:lpstr>Diamond Grid 16x9</vt:lpstr>
      <vt:lpstr>EDES 301  Responsive Path Lighting Proposal</vt:lpstr>
      <vt:lpstr>Background Information</vt:lpstr>
      <vt:lpstr>Background Information</vt:lpstr>
      <vt:lpstr>Background Information</vt:lpstr>
      <vt:lpstr>System Block Diagram</vt:lpstr>
      <vt:lpstr>Power Block Diagram</vt:lpstr>
      <vt:lpstr>Components / Budget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Layout</dc:title>
  <dc:creator>Erik Welsh</dc:creator>
  <cp:lastModifiedBy>Kathy Xu</cp:lastModifiedBy>
  <cp:revision>418</cp:revision>
  <dcterms:created xsi:type="dcterms:W3CDTF">2018-01-09T20:24:50Z</dcterms:created>
  <dcterms:modified xsi:type="dcterms:W3CDTF">2026-10-09T22:34:15Z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